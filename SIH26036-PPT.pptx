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5"/>
  </p:notesMasterIdLst>
  <p:sldIdLst>
    <p:sldId id="291" r:id="rId3"/>
    <p:sldId id="281" r:id="rId4"/>
    <p:sldId id="290" r:id="rId6"/>
    <p:sldId id="293" r:id="rId7"/>
    <p:sldId id="294" r:id="rId8"/>
    <p:sldId id="296" r:id="rId9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2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156A"/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 showGuides="1">
      <p:cViewPr varScale="1">
        <p:scale>
          <a:sx n="67" d="100"/>
          <a:sy n="67" d="100"/>
        </p:scale>
        <p:origin x="834" y="72"/>
      </p:cViewPr>
      <p:guideLst>
        <p:guide orient="horz" pos="2327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  <a:endParaRPr lang="en-US" noProof="0"/>
          </a:p>
          <a:p>
            <a:pPr lvl="1"/>
            <a:r>
              <a:rPr lang="en-US" noProof="0"/>
              <a:t>Second level</a:t>
            </a:r>
            <a:endParaRPr lang="en-US" noProof="0"/>
          </a:p>
          <a:p>
            <a:pPr lvl="2"/>
            <a:r>
              <a:rPr lang="en-US" noProof="0"/>
              <a:t>Third level</a:t>
            </a:r>
            <a:endParaRPr lang="en-US" noProof="0"/>
          </a:p>
          <a:p>
            <a:pPr lvl="3"/>
            <a:r>
              <a:rPr lang="en-US" noProof="0"/>
              <a:t>Fourth level</a:t>
            </a:r>
            <a:endParaRPr lang="en-US" noProof="0"/>
          </a:p>
          <a:p>
            <a:pPr lvl="4"/>
            <a:r>
              <a:rPr lang="en-US" noProof="0"/>
              <a:t>Fifth level</a:t>
            </a:r>
            <a:endParaRPr lang="en-US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MS PGothic" panose="020B0600070205080204" pitchFamily="1" charset="-128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fld id="{65F62A7E-A2F8-438F-9CF8-47DE63F471B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fld id="{0CA7B74D-3791-4AC6-8451-F10DBCCCDD9A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MS PGothic" panose="020B0600070205080204" pitchFamily="1" charset="-128"/>
          <a:cs typeface="MS PGothic" panose="020B0600070205080204" pitchFamily="1" charset="-128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TradeGothic"/>
          <a:ea typeface="MS PGothic" panose="020B0600070205080204" pitchFamily="1" charset="-128"/>
          <a:cs typeface="MS PGothic" panose="020B0600070205080204" pitchFamily="1" charset="-128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.xml"/><Relationship Id="rId6" Type="http://schemas.openxmlformats.org/officeDocument/2006/relationships/slideLayout" Target="../slideLayouts/slideLayout2.xml"/><Relationship Id="rId5" Type="http://schemas.openxmlformats.org/officeDocument/2006/relationships/hyperlink" Target="https://sri-ram143.github.io/SIH-2K26/" TargetMode="External"/><Relationship Id="rId4" Type="http://schemas.openxmlformats.org/officeDocument/2006/relationships/hyperlink" Target="https://consumeraffairs.gov.in/pages/weight-and-measures&#13;&#13;" TargetMode="External"/><Relationship Id="rId3" Type="http://schemas.openxmlformats.org/officeDocument/2006/relationships/hyperlink" Target="https://consumeraffairs.gov.in/pages/legal-metrology-act&#13;" TargetMode="External"/><Relationship Id="rId2" Type="http://schemas.openxmlformats.org/officeDocument/2006/relationships/hyperlink" Target="https://consumeraffairs.gov.in/pages/legal-metrology-act" TargetMode="External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r="59916"/>
          <a:stretch>
            <a:fillRect/>
          </a:stretch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4107" y="1304185"/>
            <a:ext cx="6854891" cy="52290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000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ID- SIH26036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Development of an Online Verification System for Weighing and Measuring Instruments.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Theme- Miscellaneous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ID- VisionX_RGUKTN_SIH26036_003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Name-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VisionX_RGUKTN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I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1" name="Google Shape;132;p25"/>
          <p:cNvSpPr txBox="1">
            <a:spLocks noGrp="1"/>
          </p:cNvSpPr>
          <p:nvPr>
            <p:ph type="subTitle" idx="1"/>
          </p:nvPr>
        </p:nvSpPr>
        <p:spPr>
          <a:xfrm>
            <a:off x="1210185" y="552836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endParaRPr b="1" dirty="0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lvl="0" indent="0" algn="ctr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GB" b="1" dirty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TITLE PAGE</a:t>
            </a:r>
            <a:endParaRPr b="1" dirty="0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1925" y="-434975"/>
            <a:ext cx="10972800" cy="1033145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</a:br>
            <a:r>
              <a:rPr lang="en-US" sz="3600" b="1" dirty="0" err="1">
                <a:latin typeface="Segoe UI Black" panose="020B0A02040204020203" charset="0"/>
                <a:ea typeface="MS PGothic" panose="020B0600070205080204" pitchFamily="1" charset="-128"/>
                <a:cs typeface="Segoe UI Black" panose="020B0A02040204020203" charset="0"/>
              </a:rPr>
              <a:t>MeasureSure</a:t>
            </a:r>
            <a:endParaRPr lang="en-US" sz="3600" b="1" dirty="0">
              <a:latin typeface="Segoe UI Black" panose="020B0A02040204020203" charset="0"/>
              <a:ea typeface="MS PGothic" panose="020B0600070205080204" pitchFamily="1" charset="-128"/>
              <a:cs typeface="Segoe UI Black" panose="020B0A02040204020203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85" name="Oval 284" descr="Your startup LOGO"/>
          <p:cNvSpPr/>
          <p:nvPr/>
        </p:nvSpPr>
        <p:spPr>
          <a:xfrm>
            <a:off x="343743" y="47197"/>
            <a:ext cx="1251857" cy="84789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 err="1">
                <a:latin typeface="Arial Narrow" panose="020B0606020202030204" pitchFamily="34" charset="0"/>
              </a:rPr>
              <a:t>VisionX</a:t>
            </a:r>
            <a:endParaRPr lang="en-IN" b="1" i="1" dirty="0">
              <a:latin typeface="Arial Narrow" panose="020B0606020202030204" pitchFamily="3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3762375" y="610870"/>
            <a:ext cx="4064000" cy="7054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lvl="1"/>
            <a:r>
              <a:rPr lang="en-US" altLang="en-GB">
                <a:latin typeface="Bahnschrift SemiBold" panose="020B0502040204020203" charset="0"/>
                <a:cs typeface="Bahnschrift SemiBold" panose="020B0502040204020203" charset="0"/>
                <a:sym typeface="+mn-ea"/>
              </a:rPr>
              <a:t>         Smart</a:t>
            </a:r>
            <a:r>
              <a:rPr>
                <a:solidFill>
                  <a:srgbClr val="26303A"/>
                </a:solidFill>
                <a:latin typeface="Aptos"/>
                <a:sym typeface="+mn-ea"/>
              </a:rPr>
              <a:t>•</a:t>
            </a:r>
            <a:r>
              <a:rPr lang="en-US" altLang="en-GB">
                <a:latin typeface="Bahnschrift SemiBold" panose="020B0502040204020203" charset="0"/>
                <a:cs typeface="Bahnschrift SemiBold" panose="020B0502040204020203" charset="0"/>
                <a:sym typeface="+mn-ea"/>
              </a:rPr>
              <a:t>Secure</a:t>
            </a:r>
            <a:r>
              <a:rPr>
                <a:solidFill>
                  <a:srgbClr val="26303A"/>
                </a:solidFill>
                <a:latin typeface="Aptos"/>
                <a:sym typeface="+mn-ea"/>
              </a:rPr>
              <a:t>•</a:t>
            </a:r>
            <a:r>
              <a:rPr lang="en-US" altLang="en-GB">
                <a:latin typeface="Bahnschrift SemiBold" panose="020B0502040204020203" charset="0"/>
                <a:cs typeface="Bahnschrift SemiBold" panose="020B0502040204020203" charset="0"/>
                <a:sym typeface="+mn-ea"/>
              </a:rPr>
              <a:t>Verified</a:t>
            </a:r>
            <a:endParaRPr lang="en-US" altLang="en-GB">
              <a:latin typeface="Bahnschrift SemiBold" panose="020B0502040204020203" charset="0"/>
              <a:cs typeface="Bahnschrift SemiBold" panose="020B0502040204020203" charset="0"/>
            </a:endParaRPr>
          </a:p>
          <a:p>
            <a:r>
              <a:rPr lang="en-US" altLang="en-GB">
                <a:latin typeface="Bahnschrift SemiBold" panose="020B0502040204020203" charset="0"/>
                <a:cs typeface="Bahnschrift SemiBold" panose="020B0502040204020203" charset="0"/>
              </a:rPr>
              <a:t>Digital Platform </a:t>
            </a:r>
            <a:r>
              <a:rPr lang="en-US" altLang="en-GB" b="1">
                <a:latin typeface="Bahnschrift SemiBold" panose="020B0502040204020203" charset="0"/>
                <a:cs typeface="Bahnschrift SemiBold" panose="020B0502040204020203" charset="0"/>
              </a:rPr>
              <a:t>For </a:t>
            </a:r>
            <a:r>
              <a:rPr lang="en-US" altLang="en-GB">
                <a:latin typeface="Bahnschrift SemiBold" panose="020B0502040204020203" charset="0"/>
                <a:cs typeface="Bahnschrift SemiBold" panose="020B0502040204020203" charset="0"/>
              </a:rPr>
              <a:t>Legal Metrology</a:t>
            </a:r>
            <a:endParaRPr lang="en-US" altLang="en-GB">
              <a:latin typeface="Bahnschrift SemiBold" panose="020B0502040204020203" charset="0"/>
              <a:cs typeface="Bahnschrift SemiBold" panose="020B0502040204020203" charset="0"/>
            </a:endParaRPr>
          </a:p>
        </p:txBody>
      </p:sp>
      <p:sp>
        <p:nvSpPr>
          <p:cNvPr id="5" name="TextBox 8"/>
          <p:cNvSpPr txBox="1">
            <a:spLocks noChangeArrowheads="1"/>
          </p:cNvSpPr>
          <p:nvPr/>
        </p:nvSpPr>
        <p:spPr bwMode="auto">
          <a:xfrm>
            <a:off x="161925" y="1316990"/>
            <a:ext cx="11868150" cy="490855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no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b="1" u="sng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Proposed </a:t>
            </a:r>
            <a:r>
              <a:rPr lang="en-US" sz="2400" b="1" u="sng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Solution (Describe your Idea/Solution/Prototype)</a:t>
            </a:r>
            <a:endParaRPr lang="en-US" sz="2400" b="1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Font typeface="Wingdings" panose="05000000000000000000" pitchFamily="2" charset="2"/>
              <a:buNone/>
            </a:pPr>
            <a:endParaRPr lang="en-US" sz="2800" b="1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Detailed explanation of the proposed solution: </a:t>
            </a:r>
            <a:r>
              <a:rPr lang="en-US" sz="2400" dirty="0"/>
              <a:t>To develop </a:t>
            </a:r>
            <a:r>
              <a:rPr lang="en-US" sz="2400" b="1" dirty="0" err="1"/>
              <a:t>MeasureSure</a:t>
            </a:r>
            <a:r>
              <a:rPr lang="en-US" sz="2400" dirty="0"/>
              <a:t>, a secure digital platform for online registration, verification, inspection, and certification of weighing and measuring instruments.</a:t>
            </a:r>
            <a:endParaRPr lang="en-US" sz="2400" dirty="0"/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How it addresses the problem: </a:t>
            </a:r>
            <a:r>
              <a:rPr lang="en-US" sz="2400" dirty="0"/>
              <a:t>Provides a centralized system for </a:t>
            </a:r>
            <a:r>
              <a:rPr lang="en-US" sz="2400" b="1" dirty="0"/>
              <a:t>online applications, scheduling, digital records, certificate tracking, and automated expiry alerts</a:t>
            </a:r>
            <a:r>
              <a:rPr lang="en-US" sz="2400" dirty="0"/>
              <a:t>, reducing paperwork and improving transparency and efficiency.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Innovation and uniqueness of the solution :</a:t>
            </a:r>
            <a:r>
              <a:rPr lang="en-US" sz="2400" dirty="0"/>
              <a:t>Integrates </a:t>
            </a:r>
            <a:r>
              <a:rPr lang="en-US" sz="2400" b="1" dirty="0"/>
              <a:t>QR-based certificate verification, digital instrument identity, secure records, and real-time compliance monitoring</a:t>
            </a:r>
            <a:r>
              <a:rPr lang="en-US" sz="2400" dirty="0"/>
              <a:t> into a single end-to-end Legal Metrology </a:t>
            </a:r>
            <a:r>
              <a:rPr lang="en-US" sz="2400" dirty="0"/>
              <a:t>platform.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TECHNICAL APPROACH</a:t>
            </a:r>
            <a:endParaRPr lang="en-US" sz="3600" b="1" dirty="0"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82908" y="1028143"/>
            <a:ext cx="11058144" cy="338554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l"/>
            <a:r>
              <a:rPr sz="1600" b="1" dirty="0">
                <a:solidFill>
                  <a:schemeClr val="bg1"/>
                </a:solidFill>
                <a:latin typeface="Aptos"/>
              </a:rPr>
              <a:t>01</a:t>
            </a:r>
            <a:r>
              <a:rPr sz="810" b="1" dirty="0">
                <a:solidFill>
                  <a:schemeClr val="bg1"/>
                </a:solidFill>
                <a:latin typeface="Aptos"/>
              </a:rPr>
              <a:t>  </a:t>
            </a:r>
            <a:r>
              <a:rPr sz="1600" b="1" dirty="0">
                <a:solidFill>
                  <a:schemeClr val="bg1"/>
                </a:solidFill>
                <a:latin typeface="Aptos"/>
              </a:rPr>
              <a:t>SYSTEM</a:t>
            </a:r>
            <a:r>
              <a:rPr sz="81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1600" b="1" dirty="0">
                <a:solidFill>
                  <a:schemeClr val="bg1"/>
                </a:solidFill>
                <a:latin typeface="Aptos"/>
              </a:rPr>
              <a:t>ARCHITECTURE</a:t>
            </a:r>
            <a:r>
              <a:rPr sz="810" b="1" dirty="0">
                <a:solidFill>
                  <a:schemeClr val="bg1"/>
                </a:solidFill>
                <a:latin typeface="Aptos"/>
              </a:rPr>
              <a:t>  |  </a:t>
            </a:r>
            <a:r>
              <a:rPr sz="1600" b="1" dirty="0">
                <a:solidFill>
                  <a:schemeClr val="bg1"/>
                </a:solidFill>
                <a:latin typeface="Aptos"/>
              </a:rPr>
              <a:t>MODULAR</a:t>
            </a:r>
            <a:r>
              <a:rPr sz="810" b="1" dirty="0">
                <a:solidFill>
                  <a:schemeClr val="bg1"/>
                </a:solidFill>
                <a:latin typeface="Aptos"/>
              </a:rPr>
              <a:t>, </a:t>
            </a:r>
            <a:r>
              <a:rPr sz="1600" b="1" dirty="0">
                <a:solidFill>
                  <a:schemeClr val="bg1"/>
                </a:solidFill>
                <a:latin typeface="Aptos"/>
              </a:rPr>
              <a:t>SECURE</a:t>
            </a:r>
            <a:r>
              <a:rPr sz="81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1600" b="1" dirty="0">
                <a:solidFill>
                  <a:schemeClr val="bg1"/>
                </a:solidFill>
                <a:latin typeface="Aptos"/>
              </a:rPr>
              <a:t>WORKFLOW</a:t>
            </a:r>
            <a:r>
              <a:rPr sz="81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1600" b="1" dirty="0">
                <a:solidFill>
                  <a:schemeClr val="bg1"/>
                </a:solidFill>
                <a:latin typeface="Aptos"/>
              </a:rPr>
              <a:t>PLATFORM</a:t>
            </a:r>
            <a:endParaRPr sz="1600" b="1" dirty="0">
              <a:solidFill>
                <a:schemeClr val="bg1"/>
              </a:solidFill>
              <a:latin typeface="Apto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2063" y="1444248"/>
            <a:ext cx="1426464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>
                <a:solidFill>
                  <a:srgbClr val="11375C"/>
                </a:solidFill>
                <a:latin typeface="Aptos"/>
              </a:rPr>
              <a:t>USERS / STAKEHOLDERS</a:t>
            </a:r>
            <a:endParaRPr sz="1200" b="1" dirty="0">
              <a:solidFill>
                <a:srgbClr val="11375C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30352" y="1767965"/>
            <a:ext cx="1389888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dirty="0">
                <a:solidFill>
                  <a:srgbClr val="26303A"/>
                </a:solidFill>
                <a:latin typeface="Aptos"/>
              </a:rPr>
              <a:t>Owner • LMO • GATC • Admin • Public Verifier</a:t>
            </a:r>
            <a:endParaRPr sz="1200" b="0" dirty="0">
              <a:solidFill>
                <a:srgbClr val="26303A"/>
              </a:solidFill>
              <a:latin typeface="Apto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283968" y="1547717"/>
            <a:ext cx="1911095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>
                <a:solidFill>
                  <a:srgbClr val="11375C"/>
                </a:solidFill>
                <a:latin typeface="Aptos"/>
              </a:rPr>
              <a:t>CLIENT LAYER</a:t>
            </a:r>
            <a:endParaRPr sz="1200" b="1" dirty="0">
              <a:solidFill>
                <a:srgbClr val="11375C"/>
              </a:solidFill>
              <a:latin typeface="Apto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286000" y="1768551"/>
            <a:ext cx="1874519" cy="645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1200" b="0" dirty="0">
                <a:solidFill>
                  <a:srgbClr val="26303A"/>
                </a:solidFill>
                <a:latin typeface="Aptos"/>
              </a:rPr>
              <a:t>Web Client </a:t>
            </a:r>
            <a:r>
              <a:rPr sz="1200">
                <a:solidFill>
                  <a:srgbClr val="26303A"/>
                </a:solidFill>
                <a:latin typeface="Aptos"/>
                <a:sym typeface="+mn-ea"/>
              </a:rPr>
              <a:t>•</a:t>
            </a:r>
            <a:r>
              <a:rPr lang="en-US" sz="1200">
                <a:solidFill>
                  <a:srgbClr val="26303A"/>
                </a:solidFill>
                <a:latin typeface="Aptos"/>
                <a:sym typeface="+mn-ea"/>
              </a:rPr>
              <a:t> </a:t>
            </a:r>
            <a:endParaRPr lang="en-US" sz="1200">
              <a:solidFill>
                <a:srgbClr val="26303A"/>
              </a:solidFill>
              <a:latin typeface="Aptos"/>
              <a:sym typeface="+mn-ea"/>
            </a:endParaRPr>
          </a:p>
          <a:p>
            <a:pPr algn="ctr"/>
            <a:r>
              <a:rPr lang="en-US" sz="1200">
                <a:solidFill>
                  <a:srgbClr val="26303A"/>
                </a:solidFill>
                <a:latin typeface="Aptos"/>
                <a:sym typeface="+mn-ea"/>
              </a:rPr>
              <a:t>Responsive Web</a:t>
            </a:r>
            <a:r>
              <a:rPr sz="1200">
                <a:solidFill>
                  <a:srgbClr val="26303A"/>
                </a:solidFill>
                <a:latin typeface="Aptos"/>
                <a:sym typeface="+mn-ea"/>
              </a:rPr>
              <a:t> •</a:t>
            </a:r>
            <a:endParaRPr sz="1200">
              <a:solidFill>
                <a:srgbClr val="26303A"/>
              </a:solidFill>
              <a:latin typeface="Aptos"/>
              <a:sym typeface="+mn-ea"/>
            </a:endParaRPr>
          </a:p>
          <a:p>
            <a:pPr algn="ctr"/>
            <a:r>
              <a:rPr lang="en-US" sz="1200">
                <a:solidFill>
                  <a:srgbClr val="26303A"/>
                </a:solidFill>
                <a:latin typeface="Aptos"/>
                <a:sym typeface="+mn-ea"/>
              </a:rPr>
              <a:t> Public Verification Portal</a:t>
            </a:r>
            <a:endParaRPr lang="en-US" sz="1200" b="0" dirty="0">
              <a:solidFill>
                <a:srgbClr val="26303A"/>
              </a:solidFill>
              <a:latin typeface="Aptos"/>
              <a:sym typeface="+mn-ea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207510" y="1408430"/>
            <a:ext cx="3437890" cy="35941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200" b="1" dirty="0">
                <a:solidFill>
                  <a:srgbClr val="11375C"/>
                </a:solidFill>
                <a:latin typeface="Aptos"/>
              </a:rPr>
              <a:t>BACKEND API  • </a:t>
            </a:r>
            <a:r>
              <a:rPr lang="en-US" sz="1200" b="1" dirty="0">
                <a:solidFill>
                  <a:srgbClr val="11375C"/>
                </a:solidFill>
                <a:latin typeface="Aptos"/>
              </a:rPr>
              <a:t>JAVA 17 + SPRING BOOT 4</a:t>
            </a:r>
            <a:endParaRPr lang="en-US" sz="1200" b="1" dirty="0">
              <a:solidFill>
                <a:srgbClr val="11375C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590288" y="1676158"/>
            <a:ext cx="2606039" cy="829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1200" b="0">
                <a:solidFill>
                  <a:srgbClr val="26303A"/>
                </a:solidFill>
                <a:latin typeface="Aptos"/>
              </a:rPr>
              <a:t>Spring Data JPA </a:t>
            </a:r>
            <a:r>
              <a:rPr sz="1200">
                <a:solidFill>
                  <a:srgbClr val="26303A"/>
                </a:solidFill>
                <a:latin typeface="Aptos"/>
                <a:sym typeface="+mn-ea"/>
              </a:rPr>
              <a:t> •</a:t>
            </a:r>
            <a:r>
              <a:rPr lang="en-US" sz="1200">
                <a:solidFill>
                  <a:srgbClr val="26303A"/>
                </a:solidFill>
                <a:latin typeface="Aptos"/>
                <a:sym typeface="+mn-ea"/>
              </a:rPr>
              <a:t> </a:t>
            </a:r>
            <a:r>
              <a:rPr lang="en-US" sz="1200" b="0">
                <a:solidFill>
                  <a:srgbClr val="26303A"/>
                </a:solidFill>
                <a:latin typeface="Aptos"/>
              </a:rPr>
              <a:t>REST</a:t>
            </a:r>
            <a:r>
              <a:rPr sz="1200" b="0">
                <a:solidFill>
                  <a:srgbClr val="26303A"/>
                </a:solidFill>
                <a:latin typeface="Aptos"/>
              </a:rPr>
              <a:t>Auth • RBAC • Workflow • Scheduling
Inspection • Certificate • Notify • Audit</a:t>
            </a:r>
            <a:endParaRPr sz="1200" b="0">
              <a:solidFill>
                <a:srgbClr val="26303A"/>
              </a:solidFill>
              <a:latin typeface="Apto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571231" y="1536580"/>
            <a:ext cx="4114800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>
                <a:solidFill>
                  <a:srgbClr val="11375C"/>
                </a:solidFill>
                <a:latin typeface="Aptos"/>
              </a:rPr>
              <a:t>DATA + INFRASTRUCTURE</a:t>
            </a:r>
            <a:endParaRPr sz="1200" b="1" dirty="0">
              <a:solidFill>
                <a:srgbClr val="11375C"/>
              </a:solidFill>
              <a:latin typeface="Apto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589519" y="1860943"/>
            <a:ext cx="4078224" cy="4603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1200" b="0" dirty="0">
                <a:solidFill>
                  <a:srgbClr val="26303A"/>
                </a:solidFill>
                <a:latin typeface="Aptos"/>
              </a:rPr>
              <a:t>MySQL 8.4</a:t>
            </a:r>
            <a:r>
              <a:rPr sz="1200" b="0" dirty="0">
                <a:solidFill>
                  <a:srgbClr val="26303A"/>
                </a:solidFill>
                <a:latin typeface="Aptos"/>
              </a:rPr>
              <a:t> • Secure Object Storage • PDF Certificates
Docker • Notifications</a:t>
            </a:r>
            <a:endParaRPr sz="1200" b="0" dirty="0">
              <a:solidFill>
                <a:srgbClr val="26303A"/>
              </a:solidFill>
              <a:latin typeface="Aptos"/>
            </a:endParaRPr>
          </a:p>
        </p:txBody>
      </p:sp>
      <p:cxnSp>
        <p:nvCxnSpPr>
          <p:cNvPr id="35" name="Connector 18"/>
          <p:cNvCxnSpPr/>
          <p:nvPr/>
        </p:nvCxnSpPr>
        <p:spPr>
          <a:xfrm>
            <a:off x="2011680" y="2004263"/>
            <a:ext cx="182880" cy="0"/>
          </a:xfrm>
          <a:prstGeom prst="line">
            <a:avLst/>
          </a:prstGeom>
          <a:ln w="16510">
            <a:solidFill>
              <a:srgbClr val="008B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19"/>
          <p:cNvCxnSpPr/>
          <p:nvPr/>
        </p:nvCxnSpPr>
        <p:spPr>
          <a:xfrm>
            <a:off x="4251960" y="2004263"/>
            <a:ext cx="246888" cy="0"/>
          </a:xfrm>
          <a:prstGeom prst="line">
            <a:avLst/>
          </a:prstGeom>
          <a:ln w="16510">
            <a:solidFill>
              <a:srgbClr val="008B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20"/>
          <p:cNvCxnSpPr/>
          <p:nvPr/>
        </p:nvCxnSpPr>
        <p:spPr>
          <a:xfrm>
            <a:off x="7287768" y="2004263"/>
            <a:ext cx="210311" cy="0"/>
          </a:xfrm>
          <a:prstGeom prst="line">
            <a:avLst/>
          </a:prstGeom>
          <a:ln w="16510">
            <a:solidFill>
              <a:srgbClr val="008B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hape 35"/>
          <p:cNvSpPr/>
          <p:nvPr/>
        </p:nvSpPr>
        <p:spPr>
          <a:xfrm>
            <a:off x="374336" y="2780351"/>
            <a:ext cx="2514600" cy="201168"/>
          </a:xfrm>
          <a:prstGeom prst="roundRect">
            <a:avLst>
              <a:gd name="adj" fmla="val 22727"/>
            </a:avLst>
          </a:prstGeom>
          <a:solidFill>
            <a:srgbClr val="0B3D62"/>
          </a:solidFill>
        </p:spPr>
      </p:sp>
      <p:sp>
        <p:nvSpPr>
          <p:cNvPr id="39" name="Text 36"/>
          <p:cNvSpPr/>
          <p:nvPr/>
        </p:nvSpPr>
        <p:spPr>
          <a:xfrm>
            <a:off x="374655" y="2779716"/>
            <a:ext cx="2514600" cy="201168"/>
          </a:xfrm>
          <a:prstGeom prst="rect">
            <a:avLst/>
          </a:prstGeom>
          <a:solidFill>
            <a:srgbClr val="0070C0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END</a:t>
            </a: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</a:t>
            </a: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</a:t>
            </a: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</a:t>
            </a: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END WORKFLOW</a:t>
            </a:r>
            <a:endParaRPr lang="en-US" sz="14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11480" y="3109535"/>
            <a:ext cx="1024128" cy="402336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9768" y="3109535"/>
            <a:ext cx="98755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Instrument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Registration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435608" y="3109535"/>
            <a:ext cx="7315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1508760" y="3109535"/>
            <a:ext cx="1024128" cy="402336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527048" y="3109535"/>
            <a:ext cx="98755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Verification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Application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2532888" y="3109535"/>
            <a:ext cx="7315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2606040" y="3109535"/>
            <a:ext cx="1024128" cy="402336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24328" y="3109535"/>
            <a:ext cx="98755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Validation</a:t>
            </a:r>
            <a:endParaRPr lang="en-US" sz="1050" b="1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3630168" y="3109535"/>
            <a:ext cx="7315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3703320" y="3109535"/>
            <a:ext cx="1024128" cy="402336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21608" y="3109535"/>
            <a:ext cx="98755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Smart Scheduling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&amp; Assignment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727448" y="3109535"/>
            <a:ext cx="7315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4800600" y="3109535"/>
            <a:ext cx="1024128" cy="402336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18888" y="3109535"/>
            <a:ext cx="98755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LMO / GATC Field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Inspection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312664" y="3511871"/>
            <a:ext cx="0" cy="146304"/>
          </a:xfrm>
          <a:prstGeom prst="line">
            <a:avLst/>
          </a:prstGeom>
          <a:noFill/>
          <a:ln w="15875">
            <a:solidFill>
              <a:srgbClr val="0B3D62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4781740" y="3786764"/>
            <a:ext cx="1024128" cy="457200"/>
          </a:xfrm>
          <a:prstGeom prst="diamond">
            <a:avLst/>
          </a:prstGeom>
          <a:solidFill>
            <a:srgbClr val="FFFFFF"/>
          </a:solidFill>
          <a:ln w="11430">
            <a:solidFill>
              <a:srgbClr val="0B3D6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00600" y="3786764"/>
            <a:ext cx="1024128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82B4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PASS /</a:t>
            </a:r>
            <a:endParaRPr lang="en-US" sz="10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82B4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FAIL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3703320" y="3823340"/>
            <a:ext cx="1024128" cy="38404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721608" y="3823340"/>
            <a:ext cx="987552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Digital Certificate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Generation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2606040" y="3823340"/>
            <a:ext cx="1024128" cy="38404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624328" y="3823340"/>
            <a:ext cx="987552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Digital Signature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+ QR Generation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1508760" y="3823340"/>
            <a:ext cx="1024128" cy="38404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527048" y="3823340"/>
            <a:ext cx="987552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Public QR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Verification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374336" y="3807841"/>
            <a:ext cx="1024128" cy="38404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29768" y="3823340"/>
            <a:ext cx="987552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Validity Monitoring</a:t>
            </a:r>
            <a:endParaRPr lang="en-US" sz="1050" b="1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1435608" y="3823340"/>
            <a:ext cx="73152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‹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2532888" y="3823340"/>
            <a:ext cx="73152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‹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3630168" y="3823340"/>
            <a:ext cx="73152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‹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8" name="Text 66"/>
          <p:cNvSpPr/>
          <p:nvPr/>
        </p:nvSpPr>
        <p:spPr>
          <a:xfrm>
            <a:off x="4727448" y="3823340"/>
            <a:ext cx="73152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7B3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‹</a:t>
            </a:r>
            <a:endParaRPr lang="en-US" sz="1050" b="1" dirty="0">
              <a:solidFill>
                <a:srgbClr val="1E7B3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9" name="Text 67"/>
          <p:cNvSpPr/>
          <p:nvPr/>
        </p:nvSpPr>
        <p:spPr>
          <a:xfrm>
            <a:off x="4727448" y="3575879"/>
            <a:ext cx="347472" cy="1097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7B3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PASS</a:t>
            </a:r>
            <a:endParaRPr lang="en-US" sz="1050" b="1" dirty="0">
              <a:solidFill>
                <a:srgbClr val="1E7B3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0" name="Shape 68"/>
          <p:cNvSpPr/>
          <p:nvPr/>
        </p:nvSpPr>
        <p:spPr>
          <a:xfrm>
            <a:off x="4498975" y="4358005"/>
            <a:ext cx="1597660" cy="300355"/>
          </a:xfrm>
          <a:prstGeom prst="roundRect">
            <a:avLst>
              <a:gd name="adj" fmla="val 13462"/>
            </a:avLst>
          </a:prstGeom>
          <a:solidFill>
            <a:srgbClr val="FBE9E7"/>
          </a:solidFill>
          <a:ln w="9525">
            <a:solidFill>
              <a:srgbClr val="B3261E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498975" y="4413885"/>
            <a:ext cx="1531620" cy="1225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B3261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FAIL → Re-inspection ↺</a:t>
            </a:r>
            <a:endParaRPr lang="en-US" sz="1050" b="1" dirty="0">
              <a:solidFill>
                <a:srgbClr val="B3261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2" name="Shape 70"/>
          <p:cNvSpPr/>
          <p:nvPr/>
        </p:nvSpPr>
        <p:spPr>
          <a:xfrm>
            <a:off x="5312664" y="4243964"/>
            <a:ext cx="0" cy="54864"/>
          </a:xfrm>
          <a:prstGeom prst="line">
            <a:avLst/>
          </a:prstGeom>
          <a:noFill/>
          <a:ln w="13970">
            <a:solidFill>
              <a:srgbClr val="B3261E"/>
            </a:solidFill>
            <a:prstDash val="solid"/>
            <a:tailEnd type="triangle"/>
          </a:ln>
        </p:spPr>
      </p:sp>
      <p:sp>
        <p:nvSpPr>
          <p:cNvPr id="232" name="Shape 71"/>
          <p:cNvSpPr/>
          <p:nvPr/>
        </p:nvSpPr>
        <p:spPr>
          <a:xfrm>
            <a:off x="6238113" y="2783010"/>
            <a:ext cx="3063240" cy="198507"/>
          </a:xfrm>
          <a:prstGeom prst="roundRect">
            <a:avLst>
              <a:gd name="adj" fmla="val 22727"/>
            </a:avLst>
          </a:prstGeom>
          <a:solidFill>
            <a:srgbClr val="0B3D62"/>
          </a:solidFill>
        </p:spPr>
      </p:sp>
      <p:sp>
        <p:nvSpPr>
          <p:cNvPr id="233" name="Text 72"/>
          <p:cNvSpPr/>
          <p:nvPr/>
        </p:nvSpPr>
        <p:spPr>
          <a:xfrm>
            <a:off x="6238113" y="2738138"/>
            <a:ext cx="3063240" cy="261668"/>
          </a:xfrm>
          <a:prstGeom prst="rect">
            <a:avLst/>
          </a:prstGeom>
          <a:solidFill>
            <a:srgbClr val="0070C0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CERTIFICATE TRUST &amp; SECURITY FLOW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34" name="Shape 74"/>
          <p:cNvSpPr/>
          <p:nvPr/>
        </p:nvSpPr>
        <p:spPr>
          <a:xfrm>
            <a:off x="6375273" y="3114856"/>
            <a:ext cx="1024128" cy="39701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35" name="Text 75"/>
          <p:cNvSpPr/>
          <p:nvPr/>
        </p:nvSpPr>
        <p:spPr>
          <a:xfrm>
            <a:off x="6393561" y="3114856"/>
            <a:ext cx="987552" cy="3970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Inspection</a:t>
            </a:r>
            <a:endParaRPr lang="en-US" sz="12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Approved</a:t>
            </a:r>
            <a:endParaRPr lang="en-US" sz="1200" dirty="0"/>
          </a:p>
        </p:txBody>
      </p:sp>
      <p:sp>
        <p:nvSpPr>
          <p:cNvPr id="236" name="Text 76"/>
          <p:cNvSpPr/>
          <p:nvPr/>
        </p:nvSpPr>
        <p:spPr>
          <a:xfrm>
            <a:off x="7399401" y="3114856"/>
            <a:ext cx="73152" cy="3970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20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37" name="Shape 77"/>
          <p:cNvSpPr/>
          <p:nvPr/>
        </p:nvSpPr>
        <p:spPr>
          <a:xfrm>
            <a:off x="7472553" y="3114856"/>
            <a:ext cx="1024128" cy="39701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38" name="Text 78"/>
          <p:cNvSpPr/>
          <p:nvPr/>
        </p:nvSpPr>
        <p:spPr>
          <a:xfrm>
            <a:off x="7490841" y="3114856"/>
            <a:ext cx="987552" cy="3970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Certificate</a:t>
            </a:r>
            <a:endParaRPr lang="en-US" sz="12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</a:t>
            </a:r>
            <a:endParaRPr lang="en-US" sz="1200" dirty="0"/>
          </a:p>
        </p:txBody>
      </p:sp>
      <p:sp>
        <p:nvSpPr>
          <p:cNvPr id="239" name="Text 79"/>
          <p:cNvSpPr/>
          <p:nvPr/>
        </p:nvSpPr>
        <p:spPr>
          <a:xfrm>
            <a:off x="8496681" y="3114856"/>
            <a:ext cx="73152" cy="3970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20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40" name="Shape 80"/>
          <p:cNvSpPr/>
          <p:nvPr/>
        </p:nvSpPr>
        <p:spPr>
          <a:xfrm>
            <a:off x="8569833" y="3114856"/>
            <a:ext cx="1024128" cy="39701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41" name="Text 81"/>
          <p:cNvSpPr/>
          <p:nvPr/>
        </p:nvSpPr>
        <p:spPr>
          <a:xfrm>
            <a:off x="8588121" y="3114856"/>
            <a:ext cx="987552" cy="3970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SHA-256</a:t>
            </a:r>
            <a:endParaRPr lang="en-US" sz="12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Hash</a:t>
            </a:r>
            <a:endParaRPr lang="en-US" sz="1200" dirty="0"/>
          </a:p>
        </p:txBody>
      </p:sp>
      <p:sp>
        <p:nvSpPr>
          <p:cNvPr id="242" name="Text 82"/>
          <p:cNvSpPr/>
          <p:nvPr/>
        </p:nvSpPr>
        <p:spPr>
          <a:xfrm>
            <a:off x="9593961" y="3114856"/>
            <a:ext cx="73152" cy="3970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20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43" name="Shape 83"/>
          <p:cNvSpPr/>
          <p:nvPr/>
        </p:nvSpPr>
        <p:spPr>
          <a:xfrm>
            <a:off x="9667113" y="3114856"/>
            <a:ext cx="1024128" cy="39701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44" name="Text 84"/>
          <p:cNvSpPr/>
          <p:nvPr/>
        </p:nvSpPr>
        <p:spPr>
          <a:xfrm>
            <a:off x="9685401" y="3114856"/>
            <a:ext cx="987552" cy="3970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Digital</a:t>
            </a:r>
            <a:endParaRPr lang="en-US" sz="12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Signature</a:t>
            </a:r>
            <a:endParaRPr lang="en-US" sz="1200" dirty="0"/>
          </a:p>
        </p:txBody>
      </p:sp>
      <p:sp>
        <p:nvSpPr>
          <p:cNvPr id="245" name="Text 85"/>
          <p:cNvSpPr/>
          <p:nvPr/>
        </p:nvSpPr>
        <p:spPr>
          <a:xfrm>
            <a:off x="10691241" y="3114856"/>
            <a:ext cx="73152" cy="3970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20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46" name="Shape 86"/>
          <p:cNvSpPr/>
          <p:nvPr/>
        </p:nvSpPr>
        <p:spPr>
          <a:xfrm>
            <a:off x="10764393" y="3100569"/>
            <a:ext cx="1024128" cy="39701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47" name="Text 87"/>
          <p:cNvSpPr/>
          <p:nvPr/>
        </p:nvSpPr>
        <p:spPr>
          <a:xfrm>
            <a:off x="10799445" y="3114857"/>
            <a:ext cx="970788" cy="34367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Signed</a:t>
            </a:r>
            <a:endParaRPr lang="en-US" sz="9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Certificate</a:t>
            </a:r>
            <a:endParaRPr lang="en-US" sz="1050" dirty="0"/>
          </a:p>
        </p:txBody>
      </p:sp>
      <p:sp>
        <p:nvSpPr>
          <p:cNvPr id="248" name="Shape 88"/>
          <p:cNvSpPr/>
          <p:nvPr/>
        </p:nvSpPr>
        <p:spPr>
          <a:xfrm>
            <a:off x="11276457" y="3514288"/>
            <a:ext cx="0" cy="180461"/>
          </a:xfrm>
          <a:prstGeom prst="line">
            <a:avLst/>
          </a:prstGeom>
          <a:noFill/>
          <a:ln w="15875">
            <a:solidFill>
              <a:srgbClr val="0B3D62"/>
            </a:solidFill>
            <a:prstDash val="solid"/>
            <a:tailEnd type="triangle"/>
          </a:ln>
        </p:spPr>
      </p:sp>
      <p:sp>
        <p:nvSpPr>
          <p:cNvPr id="249" name="Shape 89"/>
          <p:cNvSpPr/>
          <p:nvPr/>
        </p:nvSpPr>
        <p:spPr>
          <a:xfrm>
            <a:off x="10764393" y="3714119"/>
            <a:ext cx="1024128" cy="3789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50" name="Text 90"/>
          <p:cNvSpPr/>
          <p:nvPr/>
        </p:nvSpPr>
        <p:spPr>
          <a:xfrm>
            <a:off x="10782681" y="3714119"/>
            <a:ext cx="987552" cy="3789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QR </a:t>
            </a: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Code</a:t>
            </a:r>
            <a:endParaRPr lang="en-US" sz="1050" b="1" dirty="0"/>
          </a:p>
        </p:txBody>
      </p:sp>
      <p:sp>
        <p:nvSpPr>
          <p:cNvPr id="251" name="Shape 91"/>
          <p:cNvSpPr/>
          <p:nvPr/>
        </p:nvSpPr>
        <p:spPr>
          <a:xfrm>
            <a:off x="9667113" y="3699830"/>
            <a:ext cx="1024128" cy="3789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52" name="Text 92"/>
          <p:cNvSpPr/>
          <p:nvPr/>
        </p:nvSpPr>
        <p:spPr>
          <a:xfrm>
            <a:off x="9685401" y="3699830"/>
            <a:ext cx="987552" cy="3789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Verification</a:t>
            </a:r>
            <a:endParaRPr lang="en-US" sz="12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URL</a:t>
            </a:r>
            <a:endParaRPr lang="en-US" sz="1200" dirty="0"/>
          </a:p>
        </p:txBody>
      </p:sp>
      <p:sp>
        <p:nvSpPr>
          <p:cNvPr id="253" name="Shape 93"/>
          <p:cNvSpPr/>
          <p:nvPr/>
        </p:nvSpPr>
        <p:spPr>
          <a:xfrm>
            <a:off x="8569833" y="3699830"/>
            <a:ext cx="1024128" cy="3789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54" name="Text 94"/>
          <p:cNvSpPr/>
          <p:nvPr/>
        </p:nvSpPr>
        <p:spPr>
          <a:xfrm>
            <a:off x="8588121" y="3699830"/>
            <a:ext cx="987552" cy="3789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Backend</a:t>
            </a:r>
            <a:endParaRPr lang="en-US" sz="120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255" name="Shape 95"/>
          <p:cNvSpPr/>
          <p:nvPr/>
        </p:nvSpPr>
        <p:spPr>
          <a:xfrm>
            <a:off x="6375273" y="3699830"/>
            <a:ext cx="2121408" cy="3789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256" name="Text 96"/>
          <p:cNvSpPr/>
          <p:nvPr/>
        </p:nvSpPr>
        <p:spPr>
          <a:xfrm>
            <a:off x="6375273" y="3718679"/>
            <a:ext cx="2121408" cy="10827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82B4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VERIFICATION RESULT</a:t>
            </a:r>
            <a:endParaRPr lang="en-US" sz="1200" b="1" dirty="0">
              <a:solidFill>
                <a:srgbClr val="082B47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7" name="Shape 97"/>
          <p:cNvSpPr/>
          <p:nvPr/>
        </p:nvSpPr>
        <p:spPr>
          <a:xfrm>
            <a:off x="6411849" y="3843472"/>
            <a:ext cx="658368" cy="180461"/>
          </a:xfrm>
          <a:prstGeom prst="roundRect">
            <a:avLst>
              <a:gd name="adj" fmla="val 30000"/>
            </a:avLst>
          </a:prstGeom>
          <a:solidFill>
            <a:srgbClr val="1E7B34"/>
          </a:solidFill>
        </p:spPr>
      </p:sp>
      <p:sp>
        <p:nvSpPr>
          <p:cNvPr id="258" name="Text 98"/>
          <p:cNvSpPr/>
          <p:nvPr/>
        </p:nvSpPr>
        <p:spPr>
          <a:xfrm>
            <a:off x="6411849" y="3843472"/>
            <a:ext cx="658368" cy="18046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VALID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9" name="Shape 99"/>
          <p:cNvSpPr/>
          <p:nvPr/>
        </p:nvSpPr>
        <p:spPr>
          <a:xfrm>
            <a:off x="7106793" y="3864930"/>
            <a:ext cx="658368" cy="159003"/>
          </a:xfrm>
          <a:prstGeom prst="roundRect">
            <a:avLst>
              <a:gd name="adj" fmla="val 30000"/>
            </a:avLst>
          </a:prstGeom>
          <a:solidFill>
            <a:srgbClr val="B26A00"/>
          </a:solidFill>
        </p:spPr>
      </p:sp>
      <p:sp>
        <p:nvSpPr>
          <p:cNvPr id="260" name="Text 100"/>
          <p:cNvSpPr/>
          <p:nvPr/>
        </p:nvSpPr>
        <p:spPr>
          <a:xfrm>
            <a:off x="7106793" y="3843472"/>
            <a:ext cx="658368" cy="18046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EXPIRED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61" name="Shape 101"/>
          <p:cNvSpPr/>
          <p:nvPr/>
        </p:nvSpPr>
        <p:spPr>
          <a:xfrm>
            <a:off x="7801737" y="3843472"/>
            <a:ext cx="658368" cy="180461"/>
          </a:xfrm>
          <a:prstGeom prst="roundRect">
            <a:avLst>
              <a:gd name="adj" fmla="val 30000"/>
            </a:avLst>
          </a:prstGeom>
          <a:solidFill>
            <a:srgbClr val="B3261E"/>
          </a:solidFill>
        </p:spPr>
      </p:sp>
      <p:sp>
        <p:nvSpPr>
          <p:cNvPr id="262" name="Text 102"/>
          <p:cNvSpPr/>
          <p:nvPr/>
        </p:nvSpPr>
        <p:spPr>
          <a:xfrm>
            <a:off x="7801737" y="3843472"/>
            <a:ext cx="658368" cy="18046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REVOKED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63" name="Text 103"/>
          <p:cNvSpPr/>
          <p:nvPr/>
        </p:nvSpPr>
        <p:spPr>
          <a:xfrm>
            <a:off x="9593961" y="3699830"/>
            <a:ext cx="73152" cy="3789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‹</a:t>
            </a:r>
            <a:endParaRPr lang="en-US" sz="120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64" name="Text 104"/>
          <p:cNvSpPr/>
          <p:nvPr/>
        </p:nvSpPr>
        <p:spPr>
          <a:xfrm>
            <a:off x="10691241" y="3699830"/>
            <a:ext cx="73152" cy="3789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‹</a:t>
            </a:r>
            <a:endParaRPr lang="en-US" sz="120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65" name="Text 105"/>
          <p:cNvSpPr/>
          <p:nvPr/>
        </p:nvSpPr>
        <p:spPr>
          <a:xfrm>
            <a:off x="8496681" y="3699830"/>
            <a:ext cx="73152" cy="3789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‹</a:t>
            </a:r>
            <a:endParaRPr lang="en-US" sz="120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68" name="Shape 108"/>
          <p:cNvSpPr/>
          <p:nvPr/>
        </p:nvSpPr>
        <p:spPr>
          <a:xfrm>
            <a:off x="6375273" y="4427798"/>
            <a:ext cx="865632" cy="270691"/>
          </a:xfrm>
          <a:prstGeom prst="roundRect">
            <a:avLst>
              <a:gd name="adj" fmla="val 11667"/>
            </a:avLst>
          </a:prstGeom>
          <a:solidFill>
            <a:srgbClr val="EAF2F8"/>
          </a:solidFill>
          <a:ln w="7620">
            <a:solidFill>
              <a:srgbClr val="0E7C86"/>
            </a:solidFill>
            <a:prstDash val="solid"/>
          </a:ln>
        </p:spPr>
      </p:sp>
      <p:sp>
        <p:nvSpPr>
          <p:cNvPr id="269" name="Text 109"/>
          <p:cNvSpPr/>
          <p:nvPr/>
        </p:nvSpPr>
        <p:spPr>
          <a:xfrm>
            <a:off x="6393561" y="4427798"/>
            <a:ext cx="829056" cy="2706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HTTPS</a:t>
            </a:r>
            <a:endParaRPr lang="en-US" sz="1200" b="1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0" name="Text 110"/>
          <p:cNvSpPr/>
          <p:nvPr/>
        </p:nvSpPr>
        <p:spPr>
          <a:xfrm>
            <a:off x="7240905" y="4427798"/>
            <a:ext cx="54864" cy="2706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20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1" name="Shape 111"/>
          <p:cNvSpPr/>
          <p:nvPr/>
        </p:nvSpPr>
        <p:spPr>
          <a:xfrm>
            <a:off x="7295769" y="4427798"/>
            <a:ext cx="865632" cy="270691"/>
          </a:xfrm>
          <a:prstGeom prst="roundRect">
            <a:avLst>
              <a:gd name="adj" fmla="val 11667"/>
            </a:avLst>
          </a:prstGeom>
          <a:solidFill>
            <a:srgbClr val="EAF2F8"/>
          </a:solidFill>
          <a:ln w="7620">
            <a:solidFill>
              <a:srgbClr val="0E7C86"/>
            </a:solidFill>
            <a:prstDash val="solid"/>
          </a:ln>
        </p:spPr>
      </p:sp>
      <p:sp>
        <p:nvSpPr>
          <p:cNvPr id="272" name="Text 112"/>
          <p:cNvSpPr/>
          <p:nvPr/>
        </p:nvSpPr>
        <p:spPr>
          <a:xfrm>
            <a:off x="7314057" y="4427798"/>
            <a:ext cx="829056" cy="2706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JWT Auth</a:t>
            </a:r>
            <a:endParaRPr lang="en-US" sz="1200" b="1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3" name="Text 113"/>
          <p:cNvSpPr/>
          <p:nvPr/>
        </p:nvSpPr>
        <p:spPr>
          <a:xfrm>
            <a:off x="8161401" y="4427798"/>
            <a:ext cx="54864" cy="2706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20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4" name="Shape 114"/>
          <p:cNvSpPr/>
          <p:nvPr/>
        </p:nvSpPr>
        <p:spPr>
          <a:xfrm>
            <a:off x="8216265" y="4427798"/>
            <a:ext cx="865632" cy="270691"/>
          </a:xfrm>
          <a:prstGeom prst="roundRect">
            <a:avLst>
              <a:gd name="adj" fmla="val 11667"/>
            </a:avLst>
          </a:prstGeom>
          <a:solidFill>
            <a:srgbClr val="EAF2F8"/>
          </a:solidFill>
          <a:ln w="7620">
            <a:solidFill>
              <a:srgbClr val="0E7C86"/>
            </a:solidFill>
            <a:prstDash val="solid"/>
          </a:ln>
        </p:spPr>
      </p:sp>
      <p:sp>
        <p:nvSpPr>
          <p:cNvPr id="275" name="Text 115"/>
          <p:cNvSpPr/>
          <p:nvPr/>
        </p:nvSpPr>
        <p:spPr>
          <a:xfrm>
            <a:off x="8234553" y="4427798"/>
            <a:ext cx="829056" cy="2706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RBAC Auth</a:t>
            </a:r>
            <a:endParaRPr lang="en-US" sz="1200" b="1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6" name="Text 116"/>
          <p:cNvSpPr/>
          <p:nvPr/>
        </p:nvSpPr>
        <p:spPr>
          <a:xfrm>
            <a:off x="9081897" y="4427798"/>
            <a:ext cx="54864" cy="2706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7" name="Shape 117"/>
          <p:cNvSpPr/>
          <p:nvPr/>
        </p:nvSpPr>
        <p:spPr>
          <a:xfrm>
            <a:off x="9136761" y="4427798"/>
            <a:ext cx="865632" cy="270691"/>
          </a:xfrm>
          <a:prstGeom prst="roundRect">
            <a:avLst>
              <a:gd name="adj" fmla="val 11667"/>
            </a:avLst>
          </a:prstGeom>
          <a:solidFill>
            <a:srgbClr val="EAF2F8"/>
          </a:solidFill>
          <a:ln w="7620">
            <a:solidFill>
              <a:srgbClr val="0E7C86"/>
            </a:solidFill>
            <a:prstDash val="solid"/>
          </a:ln>
        </p:spPr>
      </p:sp>
      <p:sp>
        <p:nvSpPr>
          <p:cNvPr id="278" name="Text 118"/>
          <p:cNvSpPr/>
          <p:nvPr/>
        </p:nvSpPr>
        <p:spPr>
          <a:xfrm>
            <a:off x="9155049" y="4427798"/>
            <a:ext cx="829056" cy="2706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Input &amp; File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279" name="Text 119"/>
          <p:cNvSpPr/>
          <p:nvPr/>
        </p:nvSpPr>
        <p:spPr>
          <a:xfrm>
            <a:off x="10002393" y="4427798"/>
            <a:ext cx="54864" cy="2706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80" name="Shape 120"/>
          <p:cNvSpPr/>
          <p:nvPr/>
        </p:nvSpPr>
        <p:spPr>
          <a:xfrm>
            <a:off x="10057257" y="4427798"/>
            <a:ext cx="865632" cy="270691"/>
          </a:xfrm>
          <a:prstGeom prst="roundRect">
            <a:avLst>
              <a:gd name="adj" fmla="val 11667"/>
            </a:avLst>
          </a:prstGeom>
          <a:solidFill>
            <a:srgbClr val="EAF2F8"/>
          </a:solidFill>
          <a:ln w="7620">
            <a:solidFill>
              <a:srgbClr val="0E7C86"/>
            </a:solidFill>
            <a:prstDash val="solid"/>
          </a:ln>
        </p:spPr>
      </p:sp>
      <p:sp>
        <p:nvSpPr>
          <p:cNvPr id="281" name="Text 121"/>
          <p:cNvSpPr/>
          <p:nvPr/>
        </p:nvSpPr>
        <p:spPr>
          <a:xfrm>
            <a:off x="10075545" y="4427798"/>
            <a:ext cx="829056" cy="2706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Encrypted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Storage</a:t>
            </a:r>
            <a:endParaRPr lang="en-US" sz="1050" dirty="0"/>
          </a:p>
        </p:txBody>
      </p:sp>
      <p:sp>
        <p:nvSpPr>
          <p:cNvPr id="282" name="Text 122"/>
          <p:cNvSpPr/>
          <p:nvPr/>
        </p:nvSpPr>
        <p:spPr>
          <a:xfrm>
            <a:off x="10922889" y="4427798"/>
            <a:ext cx="54864" cy="2706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20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83" name="Shape 123"/>
          <p:cNvSpPr/>
          <p:nvPr/>
        </p:nvSpPr>
        <p:spPr>
          <a:xfrm>
            <a:off x="10977753" y="4427798"/>
            <a:ext cx="865632" cy="270691"/>
          </a:xfrm>
          <a:prstGeom prst="roundRect">
            <a:avLst>
              <a:gd name="adj" fmla="val 11667"/>
            </a:avLst>
          </a:prstGeom>
          <a:solidFill>
            <a:srgbClr val="EAF2F8"/>
          </a:solidFill>
          <a:ln w="7620">
            <a:solidFill>
              <a:srgbClr val="0E7C86"/>
            </a:solidFill>
            <a:prstDash val="solid"/>
          </a:ln>
        </p:spPr>
      </p:sp>
      <p:sp>
        <p:nvSpPr>
          <p:cNvPr id="284" name="Text 124"/>
          <p:cNvSpPr/>
          <p:nvPr/>
        </p:nvSpPr>
        <p:spPr>
          <a:xfrm>
            <a:off x="10996041" y="4427798"/>
            <a:ext cx="829056" cy="2706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Audit Trail</a:t>
            </a:r>
            <a:endParaRPr lang="en-US" sz="1100" dirty="0"/>
          </a:p>
        </p:txBody>
      </p:sp>
      <p:sp>
        <p:nvSpPr>
          <p:cNvPr id="285" name="Oval 284" descr="Your startup LOGO"/>
          <p:cNvSpPr/>
          <p:nvPr/>
        </p:nvSpPr>
        <p:spPr>
          <a:xfrm>
            <a:off x="413593" y="75137"/>
            <a:ext cx="1251857" cy="84789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 err="1">
                <a:latin typeface="Arial Narrow" panose="020B0606020202030204" pitchFamily="34" charset="0"/>
              </a:rPr>
              <a:t>VisionX</a:t>
            </a:r>
            <a:endParaRPr lang="en-IN" b="1" i="1" dirty="0">
              <a:latin typeface="Arial Narrow" panose="020B0606020202030204" pitchFamily="34" charset="0"/>
            </a:endParaRPr>
          </a:p>
        </p:txBody>
      </p:sp>
      <p:sp>
        <p:nvSpPr>
          <p:cNvPr id="133" name="Shape 131"/>
          <p:cNvSpPr/>
          <p:nvPr/>
        </p:nvSpPr>
        <p:spPr>
          <a:xfrm>
            <a:off x="411480" y="5044059"/>
            <a:ext cx="685800" cy="292608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29768" y="5044059"/>
            <a:ext cx="649224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User</a:t>
            </a:r>
            <a:endParaRPr lang="en-US" sz="1050" b="1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5" name="Text 133"/>
          <p:cNvSpPr/>
          <p:nvPr/>
        </p:nvSpPr>
        <p:spPr>
          <a:xfrm>
            <a:off x="1097280" y="5044059"/>
            <a:ext cx="82296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6" name="Shape 134"/>
          <p:cNvSpPr/>
          <p:nvPr/>
        </p:nvSpPr>
        <p:spPr>
          <a:xfrm>
            <a:off x="1179576" y="5044059"/>
            <a:ext cx="685800" cy="292608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1197864" y="5044059"/>
            <a:ext cx="649224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Instrument</a:t>
            </a:r>
            <a:endParaRPr lang="en-US" sz="1050" b="1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8" name="Text 136"/>
          <p:cNvSpPr/>
          <p:nvPr/>
        </p:nvSpPr>
        <p:spPr>
          <a:xfrm>
            <a:off x="1865376" y="5044059"/>
            <a:ext cx="82296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9" name="Shape 137"/>
          <p:cNvSpPr/>
          <p:nvPr/>
        </p:nvSpPr>
        <p:spPr>
          <a:xfrm>
            <a:off x="1947672" y="5044059"/>
            <a:ext cx="685800" cy="292608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1965960" y="5044059"/>
            <a:ext cx="649224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Application</a:t>
            </a:r>
            <a:endParaRPr lang="en-US" sz="1050" b="1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1" name="Text 139"/>
          <p:cNvSpPr/>
          <p:nvPr/>
        </p:nvSpPr>
        <p:spPr>
          <a:xfrm>
            <a:off x="2633472" y="5044059"/>
            <a:ext cx="82296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2" name="Shape 140"/>
          <p:cNvSpPr/>
          <p:nvPr/>
        </p:nvSpPr>
        <p:spPr>
          <a:xfrm>
            <a:off x="2715768" y="5044059"/>
            <a:ext cx="685800" cy="292608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2734056" y="5044059"/>
            <a:ext cx="649224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Schedule</a:t>
            </a:r>
            <a:endParaRPr lang="en-US" sz="1050" b="1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4" name="Text 142"/>
          <p:cNvSpPr/>
          <p:nvPr/>
        </p:nvSpPr>
        <p:spPr>
          <a:xfrm>
            <a:off x="3401568" y="5044059"/>
            <a:ext cx="82296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5" name="Shape 143"/>
          <p:cNvSpPr/>
          <p:nvPr/>
        </p:nvSpPr>
        <p:spPr>
          <a:xfrm>
            <a:off x="3483864" y="5044059"/>
            <a:ext cx="685800" cy="292608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3502152" y="5044059"/>
            <a:ext cx="649224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Inspection</a:t>
            </a:r>
            <a:endParaRPr lang="en-US" sz="1050" b="1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7" name="Text 145"/>
          <p:cNvSpPr/>
          <p:nvPr/>
        </p:nvSpPr>
        <p:spPr>
          <a:xfrm>
            <a:off x="4169664" y="5044059"/>
            <a:ext cx="82296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Shape 146"/>
          <p:cNvSpPr/>
          <p:nvPr/>
        </p:nvSpPr>
        <p:spPr>
          <a:xfrm>
            <a:off x="4251960" y="5044059"/>
            <a:ext cx="685800" cy="292608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4270248" y="5044059"/>
            <a:ext cx="649224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Certificate</a:t>
            </a:r>
            <a:endParaRPr lang="en-US" sz="1050" b="1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0" name="Text 148"/>
          <p:cNvSpPr/>
          <p:nvPr/>
        </p:nvSpPr>
        <p:spPr>
          <a:xfrm>
            <a:off x="4937760" y="5044059"/>
            <a:ext cx="82296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›</a:t>
            </a:r>
            <a:endParaRPr lang="en-US" sz="1050" b="1" dirty="0">
              <a:solidFill>
                <a:srgbClr val="0E7C8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1" name="Shape 149"/>
          <p:cNvSpPr/>
          <p:nvPr/>
        </p:nvSpPr>
        <p:spPr>
          <a:xfrm>
            <a:off x="5020056" y="5044059"/>
            <a:ext cx="685800" cy="292608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0B3D62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5038344" y="5044059"/>
            <a:ext cx="649224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QR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Verification</a:t>
            </a:r>
            <a:endParaRPr lang="en-US" sz="1050" dirty="0"/>
          </a:p>
        </p:txBody>
      </p:sp>
      <p:sp>
        <p:nvSpPr>
          <p:cNvPr id="153" name="Shape 151"/>
          <p:cNvSpPr/>
          <p:nvPr/>
        </p:nvSpPr>
        <p:spPr>
          <a:xfrm>
            <a:off x="754380" y="5336667"/>
            <a:ext cx="0" cy="164592"/>
          </a:xfrm>
          <a:prstGeom prst="line">
            <a:avLst/>
          </a:prstGeom>
          <a:noFill/>
          <a:ln w="12700">
            <a:solidFill>
              <a:srgbClr val="5B6B79"/>
            </a:solidFill>
            <a:prstDash val="solid"/>
            <a:tailEnd type="triangle"/>
          </a:ln>
        </p:spPr>
      </p:sp>
      <p:sp>
        <p:nvSpPr>
          <p:cNvPr id="154" name="Shape 152"/>
          <p:cNvSpPr/>
          <p:nvPr/>
        </p:nvSpPr>
        <p:spPr>
          <a:xfrm>
            <a:off x="411480" y="5501259"/>
            <a:ext cx="685800" cy="274320"/>
          </a:xfrm>
          <a:prstGeom prst="roundRect">
            <a:avLst>
              <a:gd name="adj" fmla="val 11667"/>
            </a:avLst>
          </a:prstGeom>
          <a:solidFill>
            <a:srgbClr val="EAF2F8"/>
          </a:solidFill>
          <a:ln w="7620">
            <a:solidFill>
              <a:srgbClr val="9FB9CC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29768" y="5501259"/>
            <a:ext cx="64922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Audit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Log</a:t>
            </a:r>
            <a:endParaRPr lang="en-US" sz="1050" dirty="0"/>
          </a:p>
        </p:txBody>
      </p:sp>
      <p:sp>
        <p:nvSpPr>
          <p:cNvPr id="156" name="Shape 154"/>
          <p:cNvSpPr/>
          <p:nvPr/>
        </p:nvSpPr>
        <p:spPr>
          <a:xfrm>
            <a:off x="3826764" y="5336667"/>
            <a:ext cx="0" cy="164592"/>
          </a:xfrm>
          <a:prstGeom prst="line">
            <a:avLst/>
          </a:prstGeom>
          <a:noFill/>
          <a:ln w="12700">
            <a:solidFill>
              <a:srgbClr val="5B6B79"/>
            </a:solidFill>
            <a:prstDash val="solid"/>
            <a:tailEnd type="triangle"/>
          </a:ln>
        </p:spPr>
      </p:sp>
      <p:sp>
        <p:nvSpPr>
          <p:cNvPr id="157" name="Shape 155"/>
          <p:cNvSpPr/>
          <p:nvPr/>
        </p:nvSpPr>
        <p:spPr>
          <a:xfrm>
            <a:off x="3483864" y="5501259"/>
            <a:ext cx="685800" cy="274320"/>
          </a:xfrm>
          <a:prstGeom prst="roundRect">
            <a:avLst>
              <a:gd name="adj" fmla="val 11667"/>
            </a:avLst>
          </a:prstGeom>
          <a:solidFill>
            <a:srgbClr val="EAF2F8"/>
          </a:solidFill>
          <a:ln w="7620">
            <a:solidFill>
              <a:srgbClr val="9FB9CC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3502152" y="5501259"/>
            <a:ext cx="64922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Inspection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Photos</a:t>
            </a:r>
            <a:endParaRPr lang="en-US" sz="1050" dirty="0"/>
          </a:p>
        </p:txBody>
      </p:sp>
      <p:sp>
        <p:nvSpPr>
          <p:cNvPr id="159" name="Shape 157"/>
          <p:cNvSpPr/>
          <p:nvPr/>
        </p:nvSpPr>
        <p:spPr>
          <a:xfrm>
            <a:off x="4594860" y="5336667"/>
            <a:ext cx="0" cy="164592"/>
          </a:xfrm>
          <a:prstGeom prst="line">
            <a:avLst/>
          </a:prstGeom>
          <a:noFill/>
          <a:ln w="12700">
            <a:solidFill>
              <a:srgbClr val="5B6B79"/>
            </a:solidFill>
            <a:prstDash val="solid"/>
            <a:tailEnd type="triangle"/>
          </a:ln>
        </p:spPr>
      </p:sp>
      <p:sp>
        <p:nvSpPr>
          <p:cNvPr id="160" name="Shape 158"/>
          <p:cNvSpPr/>
          <p:nvPr/>
        </p:nvSpPr>
        <p:spPr>
          <a:xfrm>
            <a:off x="4251960" y="5501259"/>
            <a:ext cx="685800" cy="274320"/>
          </a:xfrm>
          <a:prstGeom prst="roundRect">
            <a:avLst>
              <a:gd name="adj" fmla="val 11667"/>
            </a:avLst>
          </a:prstGeom>
          <a:solidFill>
            <a:srgbClr val="EAF2F8"/>
          </a:solidFill>
          <a:ln w="7620">
            <a:solidFill>
              <a:srgbClr val="9FB9CC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4270248" y="5501259"/>
            <a:ext cx="64922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Digital</a:t>
            </a:r>
            <a:endParaRPr lang="en-US" sz="1050" dirty="0"/>
          </a:p>
          <a:p>
            <a:pPr marL="0" indent="0" algn="ctr">
              <a:lnSpc>
                <a:spcPct val="92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Signature</a:t>
            </a:r>
            <a:endParaRPr lang="en-US" sz="1050" dirty="0"/>
          </a:p>
        </p:txBody>
      </p:sp>
      <p:sp>
        <p:nvSpPr>
          <p:cNvPr id="127" name="Shape 125"/>
          <p:cNvSpPr/>
          <p:nvPr/>
        </p:nvSpPr>
        <p:spPr>
          <a:xfrm>
            <a:off x="381000" y="4741545"/>
            <a:ext cx="1645920" cy="201168"/>
          </a:xfrm>
          <a:prstGeom prst="roundRect">
            <a:avLst>
              <a:gd name="adj" fmla="val 22727"/>
            </a:avLst>
          </a:prstGeom>
          <a:solidFill>
            <a:srgbClr val="0B3D62"/>
          </a:solidFill>
        </p:spPr>
      </p:sp>
      <p:sp>
        <p:nvSpPr>
          <p:cNvPr id="128" name="Text 126"/>
          <p:cNvSpPr/>
          <p:nvPr/>
        </p:nvSpPr>
        <p:spPr>
          <a:xfrm>
            <a:off x="381000" y="4741545"/>
            <a:ext cx="1645920" cy="201168"/>
          </a:xfrm>
          <a:prstGeom prst="rect">
            <a:avLst/>
          </a:prstGeom>
          <a:solidFill>
            <a:srgbClr val="0070C0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MODEL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" name="Text 126"/>
          <p:cNvSpPr/>
          <p:nvPr/>
        </p:nvSpPr>
        <p:spPr>
          <a:xfrm>
            <a:off x="6238240" y="4156710"/>
            <a:ext cx="1645920" cy="201168"/>
          </a:xfrm>
          <a:prstGeom prst="rect">
            <a:avLst/>
          </a:prstGeom>
          <a:solidFill>
            <a:srgbClr val="0070C0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SECURITY STACK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Shape 123"/>
          <p:cNvSpPr/>
          <p:nvPr/>
        </p:nvSpPr>
        <p:spPr>
          <a:xfrm>
            <a:off x="6238240" y="4942840"/>
            <a:ext cx="3867912" cy="274320"/>
          </a:xfrm>
          <a:prstGeom prst="rect">
            <a:avLst/>
          </a:prstGeom>
          <a:solidFill>
            <a:srgbClr val="0070C0"/>
          </a:solidFill>
          <a:ln w="12700">
            <a:solidFill>
              <a:srgbClr val="0B2A5B"/>
            </a:solidFill>
            <a:prstDash val="solid"/>
          </a:ln>
        </p:spPr>
        <p:txBody>
          <a:bodyPr/>
          <a:p>
            <a:pPr algn="ctr"/>
            <a:r>
              <a:rPr lang="en-US" altLang="en-GB" sz="1200" b="1">
                <a:solidFill>
                  <a:schemeClr val="bg1"/>
                </a:solidFill>
              </a:rPr>
              <a:t>DEPLOYMENT</a:t>
            </a:r>
            <a:endParaRPr lang="en-US" altLang="en-GB" sz="1200" b="1">
              <a:solidFill>
                <a:schemeClr val="bg1"/>
              </a:solidFill>
            </a:endParaRPr>
          </a:p>
        </p:txBody>
      </p:sp>
      <p:sp>
        <p:nvSpPr>
          <p:cNvPr id="79" name="Shape 125"/>
          <p:cNvSpPr/>
          <p:nvPr/>
        </p:nvSpPr>
        <p:spPr>
          <a:xfrm>
            <a:off x="6478143" y="5311902"/>
            <a:ext cx="841248" cy="402336"/>
          </a:xfrm>
          <a:prstGeom prst="roundRect">
            <a:avLst>
              <a:gd name="adj" fmla="val 9091"/>
            </a:avLst>
          </a:prstGeom>
          <a:solidFill>
            <a:srgbClr val="F7FAFC"/>
          </a:solidFill>
          <a:ln w="10160">
            <a:solidFill>
              <a:srgbClr val="CCD5DF"/>
            </a:solidFill>
            <a:prstDash val="solid"/>
          </a:ln>
        </p:spPr>
      </p:sp>
      <p:sp>
        <p:nvSpPr>
          <p:cNvPr id="80" name="Text 126"/>
          <p:cNvSpPr/>
          <p:nvPr/>
        </p:nvSpPr>
        <p:spPr>
          <a:xfrm>
            <a:off x="6533007" y="5394198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D2633"/>
                </a:solidFill>
              </a:rPr>
              <a:t>Web Client</a:t>
            </a:r>
            <a:endParaRPr lang="en-US" sz="820" dirty="0"/>
          </a:p>
        </p:txBody>
      </p:sp>
      <p:sp>
        <p:nvSpPr>
          <p:cNvPr id="81" name="Shape 127"/>
          <p:cNvSpPr/>
          <p:nvPr/>
        </p:nvSpPr>
        <p:spPr>
          <a:xfrm>
            <a:off x="7319391" y="5513070"/>
            <a:ext cx="347472" cy="0"/>
          </a:xfrm>
          <a:prstGeom prst="line">
            <a:avLst/>
          </a:prstGeom>
          <a:noFill/>
          <a:ln w="12700">
            <a:solidFill>
              <a:srgbClr val="0B2A5B"/>
            </a:solidFill>
            <a:prstDash val="solid"/>
            <a:headEnd type="none"/>
            <a:tailEnd type="triangle"/>
          </a:ln>
        </p:spPr>
      </p:sp>
      <p:sp>
        <p:nvSpPr>
          <p:cNvPr id="82" name="Shape 128"/>
          <p:cNvSpPr/>
          <p:nvPr/>
        </p:nvSpPr>
        <p:spPr>
          <a:xfrm>
            <a:off x="7666863" y="5311902"/>
            <a:ext cx="932688" cy="402336"/>
          </a:xfrm>
          <a:prstGeom prst="roundRect">
            <a:avLst>
              <a:gd name="adj" fmla="val 9091"/>
            </a:avLst>
          </a:prstGeom>
          <a:solidFill>
            <a:srgbClr val="F7FAFC"/>
          </a:solidFill>
          <a:ln w="10160">
            <a:solidFill>
              <a:srgbClr val="CCD5DF"/>
            </a:solidFill>
            <a:prstDash val="solid"/>
          </a:ln>
        </p:spPr>
      </p:sp>
      <p:sp>
        <p:nvSpPr>
          <p:cNvPr id="83" name="Text 129"/>
          <p:cNvSpPr/>
          <p:nvPr/>
        </p:nvSpPr>
        <p:spPr>
          <a:xfrm>
            <a:off x="7721727" y="5394198"/>
            <a:ext cx="82296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D2633"/>
                </a:solidFill>
              </a:rPr>
              <a:t>Spring Boot</a:t>
            </a:r>
            <a:endParaRPr lang="en-US" sz="820" dirty="0"/>
          </a:p>
        </p:txBody>
      </p:sp>
      <p:sp>
        <p:nvSpPr>
          <p:cNvPr id="84" name="Shape 130"/>
          <p:cNvSpPr/>
          <p:nvPr/>
        </p:nvSpPr>
        <p:spPr>
          <a:xfrm>
            <a:off x="8599551" y="5513070"/>
            <a:ext cx="292608" cy="0"/>
          </a:xfrm>
          <a:prstGeom prst="line">
            <a:avLst/>
          </a:prstGeom>
          <a:noFill/>
          <a:ln w="12700">
            <a:solidFill>
              <a:srgbClr val="0B2A5B"/>
            </a:solidFill>
            <a:prstDash val="solid"/>
            <a:headEnd type="none"/>
            <a:tailEnd type="triangle"/>
          </a:ln>
        </p:spPr>
      </p:sp>
      <p:sp>
        <p:nvSpPr>
          <p:cNvPr id="85" name="Shape 131"/>
          <p:cNvSpPr/>
          <p:nvPr/>
        </p:nvSpPr>
        <p:spPr>
          <a:xfrm>
            <a:off x="8892159" y="5311902"/>
            <a:ext cx="941832" cy="402336"/>
          </a:xfrm>
          <a:prstGeom prst="roundRect">
            <a:avLst>
              <a:gd name="adj" fmla="val 9091"/>
            </a:avLst>
          </a:prstGeom>
          <a:solidFill>
            <a:srgbClr val="F7FAFC"/>
          </a:solidFill>
          <a:ln w="10160">
            <a:solidFill>
              <a:srgbClr val="CCD5DF"/>
            </a:solidFill>
            <a:prstDash val="solid"/>
          </a:ln>
        </p:spPr>
      </p:sp>
      <p:sp>
        <p:nvSpPr>
          <p:cNvPr id="86" name="Text 132"/>
          <p:cNvSpPr/>
          <p:nvPr/>
        </p:nvSpPr>
        <p:spPr>
          <a:xfrm>
            <a:off x="8947023" y="5394198"/>
            <a:ext cx="832104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D2633"/>
                </a:solidFill>
              </a:rPr>
              <a:t>MySQL</a:t>
            </a:r>
            <a:endParaRPr lang="en-US" sz="820" dirty="0"/>
          </a:p>
        </p:txBody>
      </p:sp>
      <p:sp>
        <p:nvSpPr>
          <p:cNvPr id="87" name="Shape 133"/>
          <p:cNvSpPr/>
          <p:nvPr/>
        </p:nvSpPr>
        <p:spPr>
          <a:xfrm>
            <a:off x="7694295" y="5906262"/>
            <a:ext cx="877824" cy="365760"/>
          </a:xfrm>
          <a:prstGeom prst="roundRect">
            <a:avLst>
              <a:gd name="adj" fmla="val 10000"/>
            </a:avLst>
          </a:prstGeom>
          <a:solidFill>
            <a:srgbClr val="F7FAFC"/>
          </a:solidFill>
          <a:ln w="10160">
            <a:solidFill>
              <a:srgbClr val="138D8D"/>
            </a:solidFill>
            <a:prstDash val="solid"/>
          </a:ln>
        </p:spPr>
      </p:sp>
      <p:sp>
        <p:nvSpPr>
          <p:cNvPr id="88" name="Text 134"/>
          <p:cNvSpPr/>
          <p:nvPr/>
        </p:nvSpPr>
        <p:spPr>
          <a:xfrm>
            <a:off x="7749159" y="5988558"/>
            <a:ext cx="768096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0000" lnSpcReduction="20000"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D2633"/>
                </a:solidFill>
              </a:rPr>
              <a:t>Object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1D2633"/>
                </a:solidFill>
              </a:rPr>
              <a:t>Storage</a:t>
            </a:r>
            <a:endParaRPr lang="en-US" sz="820" dirty="0"/>
          </a:p>
        </p:txBody>
      </p:sp>
      <p:sp>
        <p:nvSpPr>
          <p:cNvPr id="89" name="Shape 135"/>
          <p:cNvSpPr/>
          <p:nvPr/>
        </p:nvSpPr>
        <p:spPr>
          <a:xfrm>
            <a:off x="8133207" y="5714238"/>
            <a:ext cx="0" cy="192024"/>
          </a:xfrm>
          <a:prstGeom prst="line">
            <a:avLst/>
          </a:prstGeom>
          <a:noFill/>
          <a:ln w="12700">
            <a:solidFill>
              <a:srgbClr val="138D8D"/>
            </a:solidFill>
            <a:prstDash val="solid"/>
            <a:headEnd type="none"/>
            <a:tailEnd type="triangle"/>
          </a:ln>
        </p:spPr>
      </p:sp>
      <p:sp>
        <p:nvSpPr>
          <p:cNvPr id="90" name="Shape 136"/>
          <p:cNvSpPr/>
          <p:nvPr/>
        </p:nvSpPr>
        <p:spPr>
          <a:xfrm>
            <a:off x="8727567" y="5906262"/>
            <a:ext cx="877824" cy="365760"/>
          </a:xfrm>
          <a:prstGeom prst="roundRect">
            <a:avLst>
              <a:gd name="adj" fmla="val 10000"/>
            </a:avLst>
          </a:prstGeom>
          <a:solidFill>
            <a:srgbClr val="F7FAFC"/>
          </a:solidFill>
          <a:ln w="10160">
            <a:solidFill>
              <a:srgbClr val="D98524"/>
            </a:solidFill>
            <a:prstDash val="solid"/>
          </a:ln>
        </p:spPr>
      </p:sp>
      <p:sp>
        <p:nvSpPr>
          <p:cNvPr id="91" name="Text 137"/>
          <p:cNvSpPr/>
          <p:nvPr/>
        </p:nvSpPr>
        <p:spPr>
          <a:xfrm>
            <a:off x="8782431" y="5988558"/>
            <a:ext cx="768096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D2633"/>
                </a:solidFill>
              </a:rPr>
              <a:t>Redis</a:t>
            </a:r>
            <a:endParaRPr lang="en-US" sz="820" dirty="0"/>
          </a:p>
        </p:txBody>
      </p:sp>
      <p:sp>
        <p:nvSpPr>
          <p:cNvPr id="92" name="Shape 138"/>
          <p:cNvSpPr/>
          <p:nvPr/>
        </p:nvSpPr>
        <p:spPr>
          <a:xfrm>
            <a:off x="9065895" y="5714238"/>
            <a:ext cx="0" cy="192024"/>
          </a:xfrm>
          <a:prstGeom prst="line">
            <a:avLst/>
          </a:prstGeom>
          <a:noFill/>
          <a:ln w="12700">
            <a:solidFill>
              <a:srgbClr val="D98524"/>
            </a:solidFill>
            <a:prstDash val="solid"/>
            <a:headEnd type="none"/>
            <a:tailEnd type="triangle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 panose="020F0502020204030204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FEASIBILITY AND VIABILITY</a:t>
            </a:r>
            <a:endParaRPr lang="en-US" sz="3600" b="1" dirty="0"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MS PGothic" panose="020B0600070205080204" pitchFamily="1" charset="-128"/>
                <a:cs typeface="+mn-cs"/>
              </a:rPr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5" name="Oval 4" descr="Your startup LOGO"/>
          <p:cNvSpPr/>
          <p:nvPr/>
        </p:nvSpPr>
        <p:spPr>
          <a:xfrm>
            <a:off x="273893" y="117682"/>
            <a:ext cx="1251857" cy="84789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 err="1">
                <a:latin typeface="Arial Narrow" panose="020B0606020202030204" pitchFamily="34" charset="0"/>
              </a:rPr>
              <a:t>VisionX</a:t>
            </a:r>
            <a:endParaRPr lang="en-IN" b="1" i="1" dirty="0">
              <a:latin typeface="Arial Narrow" panose="020B0606020202030204" pitchFamily="34" charset="0"/>
            </a:endParaRPr>
          </a:p>
        </p:txBody>
      </p:sp>
      <p:pic>
        <p:nvPicPr>
          <p:cNvPr id="8" name="Picture 7" descr="Gemini_Generated_Image_j36g8lj36g8lj36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22045"/>
            <a:ext cx="12192000" cy="52095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 panose="020F0502020204030204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IMPACT AND BENEFITS</a:t>
            </a:r>
            <a:endParaRPr lang="en-US" sz="3600" b="1" dirty="0"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MS PGothic" panose="020B0600070205080204" pitchFamily="1" charset="-128"/>
                <a:cs typeface="+mn-cs"/>
              </a:rPr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85" name="Oval 284" descr="Your startup LOGO"/>
          <p:cNvSpPr/>
          <p:nvPr/>
        </p:nvSpPr>
        <p:spPr>
          <a:xfrm>
            <a:off x="329773" y="117047"/>
            <a:ext cx="1251857" cy="84789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 err="1">
                <a:latin typeface="Arial Narrow" panose="020B0606020202030204" pitchFamily="34" charset="0"/>
              </a:rPr>
              <a:t>VisionX</a:t>
            </a:r>
            <a:endParaRPr lang="en-IN" b="1" i="1" dirty="0">
              <a:latin typeface="Arial Narrow" panose="020B0606020202030204" pitchFamily="34" charset="0"/>
            </a:endParaRPr>
          </a:p>
        </p:txBody>
      </p:sp>
      <p:pic>
        <p:nvPicPr>
          <p:cNvPr id="3" name="Picture 2" descr="ChatGPT Image Sep 2, 2026, 01_06_30 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70" y="1017905"/>
            <a:ext cx="10950575" cy="53511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 panose="020F0502020204030204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RESEARCH  AND REFERENCES</a:t>
            </a:r>
            <a:endParaRPr lang="en-US" sz="3600" b="1" dirty="0"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MS PGothic" panose="020B0600070205080204" pitchFamily="1" charset="-128"/>
                <a:cs typeface="+mn-cs"/>
              </a:rPr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85" name="Oval 284" descr="Your startup LOGO"/>
          <p:cNvSpPr/>
          <p:nvPr/>
        </p:nvSpPr>
        <p:spPr>
          <a:xfrm>
            <a:off x="329773" y="61167"/>
            <a:ext cx="1251857" cy="84789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 err="1">
                <a:latin typeface="Arial Narrow" panose="020B0606020202030204" pitchFamily="34" charset="0"/>
              </a:rPr>
              <a:t>VisionX</a:t>
            </a:r>
            <a:endParaRPr lang="en-IN" b="1" i="1" dirty="0">
              <a:latin typeface="Arial Narrow" panose="020B0606020202030204" pitchFamily="3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329565" y="1115695"/>
            <a:ext cx="10955655" cy="51593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en-US" altLang="en-GB" sz="2400">
              <a:latin typeface="Arial" panose="020B0604020202020204" pitchFamily="34" charset="0"/>
              <a:ea typeface="Yu Gothic UI Semibold" panose="020B0700000000000000" charset="-128"/>
              <a:cs typeface="Arial" panose="020B0604020202020204" pitchFamily="34" charset="0"/>
            </a:endParaRPr>
          </a:p>
          <a:p>
            <a:r>
              <a:rPr lang="en-US" altLang="en-GB" sz="2400" b="1">
                <a:latin typeface="Arial" panose="020B0604020202020204" pitchFamily="34" charset="0"/>
                <a:ea typeface="Yu Gothic UI Semibold" panose="020B0700000000000000" charset="-128"/>
                <a:cs typeface="Arial" panose="020B0604020202020204" pitchFamily="34" charset="0"/>
              </a:rPr>
              <a:t>SOURCE :</a:t>
            </a:r>
            <a:endParaRPr lang="en-US" altLang="en-GB" sz="2400">
              <a:latin typeface="Arial" panose="020B0604020202020204" pitchFamily="34" charset="0"/>
              <a:ea typeface="Yu Gothic UI Semibold" panose="020B0700000000000000" charset="-128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GB" sz="2400">
                <a:latin typeface="Arial" panose="020B0604020202020204" pitchFamily="34" charset="0"/>
                <a:ea typeface="Yu Gothic UI Semibold" panose="020B0700000000000000" charset="-128"/>
                <a:cs typeface="Arial" panose="020B0604020202020204" pitchFamily="34" charset="0"/>
              </a:rPr>
              <a:t>Legal Metrology Act, 2009-Government of India 	</a:t>
            </a:r>
            <a:r>
              <a:rPr lang="en-US" altLang="en-GB" sz="2400">
                <a:latin typeface="Arial" panose="020B0604020202020204" pitchFamily="34" charset="0"/>
                <a:ea typeface="Yu Gothic UI Semibold" panose="020B0700000000000000" charset="-128"/>
                <a:cs typeface="Arial" panose="020B0604020202020204" pitchFamily="34" charset="0"/>
                <a:hlinkClick r:id="rId2" tooltip="" action="ppaction://hlinkfile"/>
              </a:rPr>
              <a:t>https://consumeraffairs.gov.in/pages/legal-metrology-act</a:t>
            </a:r>
            <a:endParaRPr lang="en-US" altLang="en-GB" sz="2400">
              <a:latin typeface="Arial" panose="020B0604020202020204" pitchFamily="34" charset="0"/>
              <a:ea typeface="Yu Gothic UI Semibold" panose="020B0700000000000000" charset="-128"/>
              <a:cs typeface="Arial" panose="020B0604020202020204" pitchFamily="34" charset="0"/>
              <a:hlinkClick r:id="rId3" tooltip="" action="ppaction://hlinkfile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en-GB" sz="2400">
              <a:latin typeface="Arial" panose="020B0604020202020204" pitchFamily="34" charset="0"/>
              <a:ea typeface="Yu Gothic UI Semibold" panose="020B0700000000000000" charset="-128"/>
              <a:cs typeface="Arial" panose="020B0604020202020204" pitchFamily="34" charset="0"/>
              <a:hlinkClick r:id="rId2" tooltip="" action="ppaction://hlinkfile">
                <a:extLst>
                  <a:ext uri="{DAF060AB-1E55-43B9-8AAB-6FB025537F2F}">
                    <wpsdc:hlinkClr xmlns:wpsdc="http://www.wps.cn/officeDocument/2017/drawingmlCustomData" val="0000FF"/>
                    <wpsdc:folHlinkClr xmlns:wpsdc="http://www.wps.cn/officeDocument/2017/drawingmlCustomData" val="800080"/>
                    <wpsdc:hlinkUnderline xmlns:wpsdc="http://www.wps.cn/officeDocument/2017/drawingmlCustomData" val="1"/>
                  </a:ext>
                </a:extLst>
              </a:hlinkClick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GB" sz="2400">
                <a:latin typeface="Arial" panose="020B0604020202020204" pitchFamily="34" charset="0"/>
                <a:ea typeface="Yu Gothic UI Semibold" panose="020B0700000000000000" charset="-128"/>
                <a:cs typeface="Arial" panose="020B0604020202020204" pitchFamily="34" charset="0"/>
              </a:rPr>
              <a:t>Government Approved Test Centre FrameWork </a:t>
            </a:r>
            <a:r>
              <a:rPr lang="en-US" altLang="en-GB" sz="2400">
                <a:latin typeface="Arial" panose="020B0604020202020204" pitchFamily="34" charset="0"/>
                <a:ea typeface="Yu Gothic UI Semibold" panose="020B0700000000000000" charset="-128"/>
                <a:cs typeface="Arial" panose="020B0604020202020204" pitchFamily="34" charset="0"/>
                <a:hlinkClick r:id="rId4" tooltip="" action="ppaction://hlinkfile"/>
              </a:rPr>
              <a:t>https://consumeraffairs.gov.in/pages/weight-and-measures</a:t>
            </a:r>
            <a:endParaRPr lang="en-US" altLang="en-GB" sz="2400">
              <a:latin typeface="Arial" panose="020B0604020202020204" pitchFamily="34" charset="0"/>
              <a:ea typeface="Yu Gothic UI Semibold" panose="020B0700000000000000" charset="-128"/>
              <a:cs typeface="Arial" panose="020B0604020202020204" pitchFamily="34" charset="0"/>
              <a:hlinkClick r:id="rId4" tooltip="" action="ppaction://hlinkfile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en-GB" sz="2400">
              <a:latin typeface="Arial" panose="020B0604020202020204" pitchFamily="34" charset="0"/>
              <a:ea typeface="Yu Gothic UI Semibold" panose="020B0700000000000000" charset="-128"/>
              <a:cs typeface="Arial" panose="020B0604020202020204" pitchFamily="34" charset="0"/>
              <a:hlinkClick r:id="rId4" tooltip="" action="ppaction://hlinkfile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GB" sz="2400">
                <a:latin typeface="Arial" panose="020B0604020202020204" pitchFamily="34" charset="0"/>
                <a:ea typeface="Yu Gothic UI Semibold" panose="020B0700000000000000" charset="-128"/>
                <a:cs typeface="Arial" panose="020B0604020202020204" pitchFamily="34" charset="0"/>
              </a:rPr>
              <a:t>Cryptography Research</a:t>
            </a:r>
            <a:endParaRPr lang="en-US" altLang="en-GB" sz="2400">
              <a:latin typeface="Arial" panose="020B0604020202020204" pitchFamily="34" charset="0"/>
              <a:ea typeface="Yu Gothic UI Semibold" panose="020B0700000000000000" charset="-128"/>
              <a:cs typeface="Arial" panose="020B060402020202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en-GB" sz="2400">
                <a:latin typeface="Arial" panose="020B0604020202020204" pitchFamily="34" charset="0"/>
                <a:ea typeface="Yu Gothic UI Semibold" panose="020B0700000000000000" charset="-128"/>
                <a:cs typeface="Arial" panose="020B0604020202020204" pitchFamily="34" charset="0"/>
              </a:rPr>
              <a:t> </a:t>
            </a:r>
            <a:endParaRPr lang="en-US" altLang="en-GB" sz="2400">
              <a:latin typeface="Arial" panose="020B0604020202020204" pitchFamily="34" charset="0"/>
              <a:ea typeface="Yu Gothic UI Semibold" panose="020B0700000000000000" charset="-128"/>
              <a:cs typeface="Arial" panose="020B060402020202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en-GB" sz="2400" b="1">
                <a:latin typeface="Arial" panose="020B0604020202020204" pitchFamily="34" charset="0"/>
                <a:ea typeface="Yu Gothic UI Semibold" panose="020B0700000000000000" charset="-128"/>
                <a:cs typeface="Arial" panose="020B0604020202020204" pitchFamily="34" charset="0"/>
              </a:rPr>
              <a:t>PROTOTYPE : </a:t>
            </a:r>
            <a:r>
              <a:rPr lang="en-US" altLang="en-GB" sz="2400">
                <a:latin typeface="Arial" panose="020B0604020202020204" pitchFamily="34" charset="0"/>
                <a:ea typeface="Yu Gothic UI Semibold" panose="020B0700000000000000" charset="-128"/>
                <a:cs typeface="Arial" panose="020B0604020202020204" pitchFamily="34" charset="0"/>
                <a:hlinkClick r:id="rId5" tooltip="" action="ppaction://hlinkfile"/>
              </a:rPr>
              <a:t>LIVE PROTOTYPE</a:t>
            </a:r>
            <a:endParaRPr lang="en-US" altLang="en-GB" sz="2400">
              <a:latin typeface="Arial" panose="020B0604020202020204" pitchFamily="34" charset="0"/>
              <a:ea typeface="Yu Gothic UI Semibold" panose="020B0700000000000000" charset="-128"/>
              <a:cs typeface="Arial" panose="020B0604020202020204" pitchFamily="34" charset="0"/>
              <a:hlinkClick r:id="rId5" tooltip="" action="ppaction://hlinkfil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70C0"/>
      </a:hlink>
      <a:folHlink>
        <a:srgbClr val="0070C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2762</Words>
  <Application>WPS Presentation</Application>
  <PresentationFormat>Widescreen</PresentationFormat>
  <Paragraphs>265</Paragraphs>
  <Slides>6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26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33" baseType="lpstr">
      <vt:lpstr>Arial</vt:lpstr>
      <vt:lpstr>SimSun</vt:lpstr>
      <vt:lpstr>Wingdings</vt:lpstr>
      <vt:lpstr>Calibri</vt:lpstr>
      <vt:lpstr>MS PGothic</vt:lpstr>
      <vt:lpstr>TradeGothic</vt:lpstr>
      <vt:lpstr>Segoe Print</vt:lpstr>
      <vt:lpstr>TradeGothic</vt:lpstr>
      <vt:lpstr>Arial</vt:lpstr>
      <vt:lpstr>Garamond</vt:lpstr>
      <vt:lpstr>PMingLiU-ExtB</vt:lpstr>
      <vt:lpstr>Times New Roman</vt:lpstr>
      <vt:lpstr>Times New Roman</vt:lpstr>
      <vt:lpstr>Segoe UI Black</vt:lpstr>
      <vt:lpstr>Arial Narrow</vt:lpstr>
      <vt:lpstr>Aptos</vt:lpstr>
      <vt:lpstr>Segoe UI</vt:lpstr>
      <vt:lpstr>Calibri</vt:lpstr>
      <vt:lpstr>Calibri</vt:lpstr>
      <vt:lpstr>Calibri</vt:lpstr>
      <vt:lpstr>Microsoft YaHei</vt:lpstr>
      <vt:lpstr>Arial Unicode MS</vt:lpstr>
      <vt:lpstr>Bahnschrift SemiBold SemiCondensed</vt:lpstr>
      <vt:lpstr>Bahnschrift SemiBold</vt:lpstr>
      <vt:lpstr>Arial Black</vt:lpstr>
      <vt:lpstr>Yu Gothic UI Semibold</vt:lpstr>
      <vt:lpstr>Office Theme</vt:lpstr>
      <vt:lpstr>SMART INDIA HACKATHON 2026</vt:lpstr>
      <vt:lpstr> MeasureSure</vt:lpstr>
      <vt:lpstr>TECHNICAL APPROACH</vt:lpstr>
      <vt:lpstr>FEASIBILITY AND VIABILITY</vt:lpstr>
      <vt:lpstr>IMPACT AND BENEFITS</vt:lpstr>
      <vt:lpstr>RESEARCH  AND REFERENCES</vt:lpstr>
    </vt:vector>
  </TitlesOfParts>
  <Company>Crowdfunder, Inc.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creator>Crowdfunder</dc:creator>
  <cp:lastModifiedBy>Ganesh Gundumogula</cp:lastModifiedBy>
  <cp:revision>217</cp:revision>
  <dcterms:created xsi:type="dcterms:W3CDTF">2013-12-12T18:46:00Z</dcterms:created>
  <dcterms:modified xsi:type="dcterms:W3CDTF">2026-09-03T14:03:41Z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FFCE6D0C3C04488092D1DCFB5517142D_12</vt:lpwstr>
  </property>
  <property fmtid="{D5CDD505-2E9C-101B-9397-08002B2CF9AE}" pid="3" name="KSOProductBuildVer">
    <vt:lpwstr>2057-12.2.0.23206</vt:lpwstr>
  </property>
</Properties>
</file>