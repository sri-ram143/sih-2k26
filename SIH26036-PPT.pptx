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0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7" d="100"/>
          <a:sy n="67" d="100"/>
        </p:scale>
        <p:origin x="834" y="72"/>
      </p:cViewPr>
      <p:guideLst>
        <p:guide orient="horz" pos="2317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107" y="1304185"/>
            <a:ext cx="6854891" cy="522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ID- SIH26036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Development of an Online Verification System for Weighing and Measuring Instruments.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Miscellaneous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VisionX_RGUKTN_SIH26036_003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VisionX_RGUKTN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1" name="Google Shape;132;p25"/>
          <p:cNvSpPr txBox="1">
            <a:spLocks noGrp="1"/>
          </p:cNvSpPr>
          <p:nvPr>
            <p:ph type="subTitle" idx="1"/>
          </p:nvPr>
        </p:nvSpPr>
        <p:spPr>
          <a:xfrm>
            <a:off x="1210185" y="552836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 PAGE</a:t>
            </a:r>
            <a:endParaRPr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2064" y="-434978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3600" b="1" dirty="0" err="1">
                <a:latin typeface="Segoe UI Black" panose="020B0A02040204020203" charset="0"/>
                <a:ea typeface="MS PGothic" panose="020B0600070205080204" pitchFamily="1" charset="-128"/>
                <a:cs typeface="Segoe UI Black" panose="020B0A02040204020203" charset="0"/>
              </a:rPr>
              <a:t>MeasureSure</a:t>
            </a:r>
            <a:endParaRPr lang="en-US" sz="3600" b="1" dirty="0">
              <a:latin typeface="Segoe UI Black" panose="020B0A02040204020203" charset="0"/>
              <a:ea typeface="MS PGothic" panose="020B0600070205080204" pitchFamily="1" charset="-128"/>
              <a:cs typeface="Segoe UI Black" panose="020B0A02040204020203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819652"/>
            <a:ext cx="12191999" cy="54476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 (Describe your Idea/Solution/Prototype)</a:t>
            </a:r>
            <a:endParaRPr lang="en-US" sz="28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8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Detailed explanation of the proposed solution: </a:t>
            </a:r>
            <a:r>
              <a:rPr lang="en-US" sz="2600" dirty="0"/>
              <a:t>To develop </a:t>
            </a:r>
            <a:r>
              <a:rPr lang="en-US" sz="2600" b="1" dirty="0" err="1"/>
              <a:t>MeasureSure</a:t>
            </a:r>
            <a:r>
              <a:rPr lang="en-US" sz="2600" dirty="0"/>
              <a:t>, a secure digital platform for online registration, verification, inspection, and certification of weighing and measuring instruments.</a:t>
            </a:r>
            <a:endParaRPr lang="en-US" sz="2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How it addresses the problem: </a:t>
            </a:r>
            <a:r>
              <a:rPr lang="en-US" sz="2600" dirty="0"/>
              <a:t>Provides a centralized system for </a:t>
            </a:r>
            <a:r>
              <a:rPr lang="en-US" sz="2600" b="1" dirty="0"/>
              <a:t>online applications, scheduling, digital records, certificate tracking, and automated expiry alerts</a:t>
            </a:r>
            <a:r>
              <a:rPr lang="en-US" sz="2600" dirty="0"/>
              <a:t>, reducing paperwork and improving transparency and efficiency.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Innovation and uniqueness of the solution :</a:t>
            </a:r>
            <a:r>
              <a:rPr lang="en-US" sz="2800" dirty="0"/>
              <a:t>Integrates </a:t>
            </a:r>
            <a:r>
              <a:rPr lang="en-US" sz="2800" b="1" dirty="0"/>
              <a:t>QR-based certificate verification, digital instrument identity, secure records, and real-time compliance monitoring</a:t>
            </a:r>
            <a:r>
              <a:rPr lang="en-US" sz="2800" dirty="0"/>
              <a:t> into a single end-to-end Legal Metrology platform.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85" name="Oval 284" descr="Your startup LOGO"/>
          <p:cNvSpPr/>
          <p:nvPr/>
        </p:nvSpPr>
        <p:spPr>
          <a:xfrm>
            <a:off x="343743" y="47197"/>
            <a:ext cx="1251857" cy="84789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 err="1">
                <a:latin typeface="Arial Narrow" panose="020B0606020202030204" pitchFamily="34" charset="0"/>
              </a:rPr>
              <a:t>VisionX</a:t>
            </a:r>
            <a:endParaRPr lang="en-IN" b="1" i="1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82908" y="1028143"/>
            <a:ext cx="11058144" cy="33855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chemeClr val="bg1"/>
                </a:solidFill>
                <a:latin typeface="Aptos"/>
              </a:rPr>
              <a:t>01</a:t>
            </a:r>
            <a:r>
              <a:rPr sz="810" b="1" dirty="0">
                <a:solidFill>
                  <a:schemeClr val="bg1"/>
                </a:solidFill>
                <a:latin typeface="Aptos"/>
              </a:rPr>
              <a:t>  </a:t>
            </a:r>
            <a:r>
              <a:rPr sz="1600" b="1" dirty="0">
                <a:solidFill>
                  <a:schemeClr val="bg1"/>
                </a:solidFill>
                <a:latin typeface="Aptos"/>
              </a:rPr>
              <a:t>SYSTEM</a:t>
            </a:r>
            <a:r>
              <a:rPr sz="81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600" b="1" dirty="0">
                <a:solidFill>
                  <a:schemeClr val="bg1"/>
                </a:solidFill>
                <a:latin typeface="Aptos"/>
              </a:rPr>
              <a:t>ARCHITECTURE</a:t>
            </a:r>
            <a:r>
              <a:rPr sz="810" b="1" dirty="0">
                <a:solidFill>
                  <a:schemeClr val="bg1"/>
                </a:solidFill>
                <a:latin typeface="Aptos"/>
              </a:rPr>
              <a:t>  |  </a:t>
            </a:r>
            <a:r>
              <a:rPr sz="1600" b="1" dirty="0">
                <a:solidFill>
                  <a:schemeClr val="bg1"/>
                </a:solidFill>
                <a:latin typeface="Aptos"/>
              </a:rPr>
              <a:t>MODULAR</a:t>
            </a:r>
            <a:r>
              <a:rPr sz="810" b="1" dirty="0">
                <a:solidFill>
                  <a:schemeClr val="bg1"/>
                </a:solidFill>
                <a:latin typeface="Aptos"/>
              </a:rPr>
              <a:t>, </a:t>
            </a:r>
            <a:r>
              <a:rPr sz="1600" b="1" dirty="0">
                <a:solidFill>
                  <a:schemeClr val="bg1"/>
                </a:solidFill>
                <a:latin typeface="Aptos"/>
              </a:rPr>
              <a:t>SECURE</a:t>
            </a:r>
            <a:r>
              <a:rPr sz="81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600" b="1" dirty="0">
                <a:solidFill>
                  <a:schemeClr val="bg1"/>
                </a:solidFill>
                <a:latin typeface="Aptos"/>
              </a:rPr>
              <a:t>WORKFLOW</a:t>
            </a:r>
            <a:r>
              <a:rPr sz="81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600" b="1" dirty="0">
                <a:solidFill>
                  <a:schemeClr val="bg1"/>
                </a:solidFill>
                <a:latin typeface="Aptos"/>
              </a:rPr>
              <a:t>PLATFORM</a:t>
            </a:r>
            <a:endParaRPr sz="16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2063" y="1444248"/>
            <a:ext cx="1426464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1375C"/>
                </a:solidFill>
                <a:latin typeface="Aptos"/>
              </a:rPr>
              <a:t>USERS / STAKEHOLDERS</a:t>
            </a:r>
            <a:endParaRPr sz="1200" b="1" dirty="0">
              <a:solidFill>
                <a:srgbClr val="11375C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0352" y="1767965"/>
            <a:ext cx="1389888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6303A"/>
                </a:solidFill>
                <a:latin typeface="Aptos"/>
              </a:rPr>
              <a:t>Owner • LMO • GATC • Admin • Public Verifier</a:t>
            </a:r>
            <a:endParaRPr sz="1200" b="0" dirty="0">
              <a:solidFill>
                <a:srgbClr val="26303A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283968" y="1547717"/>
            <a:ext cx="191109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1375C"/>
                </a:solidFill>
                <a:latin typeface="Aptos"/>
              </a:rPr>
              <a:t>CLIENT LAYER</a:t>
            </a:r>
            <a:endParaRPr sz="1200" b="1" dirty="0">
              <a:solidFill>
                <a:srgbClr val="11375C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86000" y="1860298"/>
            <a:ext cx="187451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6303A"/>
                </a:solidFill>
                <a:latin typeface="Aptos"/>
              </a:rPr>
              <a:t>React / Next.js Web
Flutter Mobile • Field</a:t>
            </a:r>
            <a:endParaRPr sz="1200" b="0" dirty="0">
              <a:solidFill>
                <a:srgbClr val="26303A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0" y="1536580"/>
            <a:ext cx="264261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1375C"/>
                </a:solidFill>
                <a:latin typeface="Aptos"/>
              </a:rPr>
              <a:t>BACKEND API  •  Node.js + </a:t>
            </a:r>
            <a:r>
              <a:rPr sz="1200" b="1" dirty="0" err="1">
                <a:solidFill>
                  <a:srgbClr val="11375C"/>
                </a:solidFill>
                <a:latin typeface="Aptos"/>
              </a:rPr>
              <a:t>NestJS</a:t>
            </a:r>
            <a:endParaRPr sz="1200" b="1" dirty="0">
              <a:solidFill>
                <a:srgbClr val="11375C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90288" y="1767965"/>
            <a:ext cx="2606039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6303A"/>
                </a:solidFill>
                <a:latin typeface="Aptos"/>
              </a:rPr>
              <a:t>Auth • RBAC • Workflow • Scheduling
Inspection • Certificate • Notify • Audit</a:t>
            </a:r>
            <a:endParaRPr sz="1200" b="0">
              <a:solidFill>
                <a:srgbClr val="26303A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571231" y="1536580"/>
            <a:ext cx="4114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11375C"/>
                </a:solidFill>
                <a:latin typeface="Aptos"/>
              </a:rPr>
              <a:t>DATA + INFRASTRUCTURE</a:t>
            </a:r>
            <a:endParaRPr sz="1200" b="1" dirty="0">
              <a:solidFill>
                <a:srgbClr val="11375C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589519" y="1860943"/>
            <a:ext cx="4078224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6303A"/>
                </a:solidFill>
                <a:latin typeface="Aptos"/>
              </a:rPr>
              <a:t>PostgreSQL • Secure Object Storage • PDF Certificates
Docker + Cloud • Notifications</a:t>
            </a:r>
            <a:endParaRPr sz="1200" b="0" dirty="0">
              <a:solidFill>
                <a:srgbClr val="26303A"/>
              </a:solidFill>
              <a:latin typeface="Aptos"/>
            </a:endParaRPr>
          </a:p>
        </p:txBody>
      </p:sp>
      <p:cxnSp>
        <p:nvCxnSpPr>
          <p:cNvPr id="35" name="Connector 18"/>
          <p:cNvCxnSpPr/>
          <p:nvPr/>
        </p:nvCxnSpPr>
        <p:spPr>
          <a:xfrm>
            <a:off x="2011680" y="2004263"/>
            <a:ext cx="182880" cy="0"/>
          </a:xfrm>
          <a:prstGeom prst="line">
            <a:avLst/>
          </a:prstGeom>
          <a:ln w="1651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19"/>
          <p:cNvCxnSpPr/>
          <p:nvPr/>
        </p:nvCxnSpPr>
        <p:spPr>
          <a:xfrm>
            <a:off x="4251960" y="2004263"/>
            <a:ext cx="246888" cy="0"/>
          </a:xfrm>
          <a:prstGeom prst="line">
            <a:avLst/>
          </a:prstGeom>
          <a:ln w="1651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20"/>
          <p:cNvCxnSpPr/>
          <p:nvPr/>
        </p:nvCxnSpPr>
        <p:spPr>
          <a:xfrm>
            <a:off x="7287768" y="2004263"/>
            <a:ext cx="210311" cy="0"/>
          </a:xfrm>
          <a:prstGeom prst="line">
            <a:avLst/>
          </a:prstGeom>
          <a:ln w="16510">
            <a:solidFill>
              <a:srgbClr val="00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Shape 35"/>
          <p:cNvSpPr/>
          <p:nvPr/>
        </p:nvSpPr>
        <p:spPr>
          <a:xfrm>
            <a:off x="374336" y="2780351"/>
            <a:ext cx="2514600" cy="201168"/>
          </a:xfrm>
          <a:prstGeom prst="roundRect">
            <a:avLst>
              <a:gd name="adj" fmla="val 22727"/>
            </a:avLst>
          </a:prstGeom>
          <a:solidFill>
            <a:srgbClr val="0B3D62"/>
          </a:solidFill>
        </p:spPr>
      </p:sp>
      <p:sp>
        <p:nvSpPr>
          <p:cNvPr id="39" name="Text 36"/>
          <p:cNvSpPr/>
          <p:nvPr/>
        </p:nvSpPr>
        <p:spPr>
          <a:xfrm>
            <a:off x="374655" y="2779716"/>
            <a:ext cx="2514600" cy="201168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</a:t>
            </a: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</a:t>
            </a: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</a:t>
            </a: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 WORKFLOW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11480" y="3109535"/>
            <a:ext cx="1024128" cy="402336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" y="3109535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Instrument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435608" y="3109535"/>
            <a:ext cx="731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05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508760" y="3109535"/>
            <a:ext cx="1024128" cy="402336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27048" y="3109535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532888" y="3109535"/>
            <a:ext cx="731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05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606040" y="3109535"/>
            <a:ext cx="1024128" cy="402336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24328" y="3109535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</a:t>
            </a:r>
            <a:endParaRPr lang="en-US" sz="1050" b="1" dirty="0">
              <a:solidFill>
                <a:srgbClr val="1F293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630168" y="3109535"/>
            <a:ext cx="731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05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703320" y="3109535"/>
            <a:ext cx="1024128" cy="402336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21608" y="3109535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Scheduling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Assignment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727448" y="3109535"/>
            <a:ext cx="731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05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800600" y="3109535"/>
            <a:ext cx="1024128" cy="402336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18888" y="3109535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LMO / GATC Field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Inspection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312664" y="3511871"/>
            <a:ext cx="0" cy="146304"/>
          </a:xfrm>
          <a:prstGeom prst="line">
            <a:avLst/>
          </a:prstGeom>
          <a:noFill/>
          <a:ln w="15875">
            <a:solidFill>
              <a:srgbClr val="0B3D62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781740" y="3786764"/>
            <a:ext cx="1024128" cy="457200"/>
          </a:xfrm>
          <a:prstGeom prst="diamond">
            <a:avLst/>
          </a:prstGeom>
          <a:solidFill>
            <a:srgbClr val="FFFFFF"/>
          </a:solidFill>
          <a:ln w="11430">
            <a:solidFill>
              <a:srgbClr val="0B3D6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0600" y="3786764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82B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/</a:t>
            </a:r>
            <a:endParaRPr lang="en-US" sz="10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82B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703320" y="3823340"/>
            <a:ext cx="1024128" cy="38404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21608" y="3823340"/>
            <a:ext cx="9875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Certificate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Generation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606040" y="3823340"/>
            <a:ext cx="1024128" cy="38404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24328" y="3823340"/>
            <a:ext cx="9875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Signature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QR Generation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508760" y="3823340"/>
            <a:ext cx="1024128" cy="38404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27048" y="3823340"/>
            <a:ext cx="9875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QR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74336" y="3807841"/>
            <a:ext cx="1024128" cy="38404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9768" y="3823340"/>
            <a:ext cx="9875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Validity Monitoring</a:t>
            </a:r>
            <a:endParaRPr lang="en-US" sz="1050" b="1" dirty="0">
              <a:solidFill>
                <a:srgbClr val="1F293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435608" y="3823340"/>
            <a:ext cx="73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‹</a:t>
            </a:r>
            <a:endParaRPr lang="en-US" sz="105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2532888" y="3823340"/>
            <a:ext cx="73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‹</a:t>
            </a:r>
            <a:endParaRPr lang="en-US" sz="105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3630168" y="3823340"/>
            <a:ext cx="73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‹</a:t>
            </a:r>
            <a:endParaRPr lang="en-US" sz="105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4727448" y="3823340"/>
            <a:ext cx="731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‹</a:t>
            </a:r>
            <a:endParaRPr lang="en-US" sz="1050" b="1" dirty="0">
              <a:solidFill>
                <a:srgbClr val="1E7B3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4727448" y="3575879"/>
            <a:ext cx="34747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7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</a:t>
            </a:r>
            <a:endParaRPr lang="en-US" sz="1050" b="1" dirty="0">
              <a:solidFill>
                <a:srgbClr val="1E7B3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4498975" y="4358005"/>
            <a:ext cx="1597660" cy="300355"/>
          </a:xfrm>
          <a:prstGeom prst="roundRect">
            <a:avLst>
              <a:gd name="adj" fmla="val 13462"/>
            </a:avLst>
          </a:prstGeom>
          <a:solidFill>
            <a:srgbClr val="FBE9E7"/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98975" y="4413885"/>
            <a:ext cx="1531620" cy="122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B326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FAIL → Re-inspection ↺</a:t>
            </a:r>
            <a:endParaRPr lang="en-US" sz="1050" b="1" dirty="0">
              <a:solidFill>
                <a:srgbClr val="B3261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5312664" y="4243964"/>
            <a:ext cx="0" cy="54864"/>
          </a:xfrm>
          <a:prstGeom prst="line">
            <a:avLst/>
          </a:prstGeom>
          <a:noFill/>
          <a:ln w="13970">
            <a:solidFill>
              <a:srgbClr val="B3261E"/>
            </a:solidFill>
            <a:prstDash val="solid"/>
            <a:tailEnd type="triangle"/>
          </a:ln>
        </p:spPr>
      </p:sp>
      <p:sp>
        <p:nvSpPr>
          <p:cNvPr id="232" name="Shape 71"/>
          <p:cNvSpPr/>
          <p:nvPr/>
        </p:nvSpPr>
        <p:spPr>
          <a:xfrm>
            <a:off x="6144768" y="2783010"/>
            <a:ext cx="3063240" cy="198507"/>
          </a:xfrm>
          <a:prstGeom prst="roundRect">
            <a:avLst>
              <a:gd name="adj" fmla="val 22727"/>
            </a:avLst>
          </a:prstGeom>
          <a:solidFill>
            <a:srgbClr val="0B3D62"/>
          </a:solidFill>
        </p:spPr>
      </p:sp>
      <p:sp>
        <p:nvSpPr>
          <p:cNvPr id="233" name="Text 72"/>
          <p:cNvSpPr/>
          <p:nvPr/>
        </p:nvSpPr>
        <p:spPr>
          <a:xfrm>
            <a:off x="6144768" y="2738138"/>
            <a:ext cx="3063240" cy="261668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CERTIFICATE TRUST &amp; SECURITY FLOW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4" name="Shape 74"/>
          <p:cNvSpPr/>
          <p:nvPr/>
        </p:nvSpPr>
        <p:spPr>
          <a:xfrm>
            <a:off x="6281928" y="3114856"/>
            <a:ext cx="1024128" cy="397014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235" name="Text 75"/>
          <p:cNvSpPr/>
          <p:nvPr/>
        </p:nvSpPr>
        <p:spPr>
          <a:xfrm>
            <a:off x="6300216" y="3114856"/>
            <a:ext cx="987552" cy="39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Inspection</a:t>
            </a:r>
            <a:endParaRPr lang="en-US" sz="12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Approved</a:t>
            </a:r>
            <a:endParaRPr lang="en-US" sz="1200" dirty="0"/>
          </a:p>
        </p:txBody>
      </p:sp>
      <p:sp>
        <p:nvSpPr>
          <p:cNvPr id="236" name="Text 76"/>
          <p:cNvSpPr/>
          <p:nvPr/>
        </p:nvSpPr>
        <p:spPr>
          <a:xfrm>
            <a:off x="7306056" y="3114856"/>
            <a:ext cx="73152" cy="39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20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7" name="Shape 77"/>
          <p:cNvSpPr/>
          <p:nvPr/>
        </p:nvSpPr>
        <p:spPr>
          <a:xfrm>
            <a:off x="7379208" y="3114856"/>
            <a:ext cx="1024128" cy="397014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238" name="Text 78"/>
          <p:cNvSpPr/>
          <p:nvPr/>
        </p:nvSpPr>
        <p:spPr>
          <a:xfrm>
            <a:off x="7397496" y="3114856"/>
            <a:ext cx="987552" cy="39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Certificate</a:t>
            </a:r>
            <a:endParaRPr lang="en-US" sz="12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200" dirty="0"/>
          </a:p>
        </p:txBody>
      </p:sp>
      <p:sp>
        <p:nvSpPr>
          <p:cNvPr id="239" name="Text 79"/>
          <p:cNvSpPr/>
          <p:nvPr/>
        </p:nvSpPr>
        <p:spPr>
          <a:xfrm>
            <a:off x="8403336" y="3114856"/>
            <a:ext cx="73152" cy="39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20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0" name="Shape 80"/>
          <p:cNvSpPr/>
          <p:nvPr/>
        </p:nvSpPr>
        <p:spPr>
          <a:xfrm>
            <a:off x="8476488" y="3114856"/>
            <a:ext cx="1024128" cy="397014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241" name="Text 81"/>
          <p:cNvSpPr/>
          <p:nvPr/>
        </p:nvSpPr>
        <p:spPr>
          <a:xfrm>
            <a:off x="8494776" y="3114856"/>
            <a:ext cx="987552" cy="39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SHA-256</a:t>
            </a:r>
            <a:endParaRPr lang="en-US" sz="12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Hash</a:t>
            </a:r>
            <a:endParaRPr lang="en-US" sz="1200" dirty="0"/>
          </a:p>
        </p:txBody>
      </p:sp>
      <p:sp>
        <p:nvSpPr>
          <p:cNvPr id="242" name="Text 82"/>
          <p:cNvSpPr/>
          <p:nvPr/>
        </p:nvSpPr>
        <p:spPr>
          <a:xfrm>
            <a:off x="9500616" y="3114856"/>
            <a:ext cx="73152" cy="39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20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3" name="Shape 83"/>
          <p:cNvSpPr/>
          <p:nvPr/>
        </p:nvSpPr>
        <p:spPr>
          <a:xfrm>
            <a:off x="9573768" y="3114856"/>
            <a:ext cx="1024128" cy="397014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244" name="Text 84"/>
          <p:cNvSpPr/>
          <p:nvPr/>
        </p:nvSpPr>
        <p:spPr>
          <a:xfrm>
            <a:off x="9592056" y="3114856"/>
            <a:ext cx="987552" cy="39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</a:t>
            </a:r>
            <a:endParaRPr lang="en-US" sz="12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Signature</a:t>
            </a:r>
            <a:endParaRPr lang="en-US" sz="1200" dirty="0"/>
          </a:p>
        </p:txBody>
      </p:sp>
      <p:sp>
        <p:nvSpPr>
          <p:cNvPr id="245" name="Text 85"/>
          <p:cNvSpPr/>
          <p:nvPr/>
        </p:nvSpPr>
        <p:spPr>
          <a:xfrm>
            <a:off x="10597896" y="3114856"/>
            <a:ext cx="73152" cy="39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20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6" name="Shape 86"/>
          <p:cNvSpPr/>
          <p:nvPr/>
        </p:nvSpPr>
        <p:spPr>
          <a:xfrm>
            <a:off x="10671048" y="3100569"/>
            <a:ext cx="1024128" cy="397014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247" name="Text 87"/>
          <p:cNvSpPr/>
          <p:nvPr/>
        </p:nvSpPr>
        <p:spPr>
          <a:xfrm>
            <a:off x="10706100" y="3114857"/>
            <a:ext cx="970788" cy="343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Signed</a:t>
            </a:r>
            <a:endParaRPr lang="en-US" sz="9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Certificate</a:t>
            </a:r>
            <a:endParaRPr lang="en-US" sz="1050" dirty="0"/>
          </a:p>
        </p:txBody>
      </p:sp>
      <p:sp>
        <p:nvSpPr>
          <p:cNvPr id="248" name="Shape 88"/>
          <p:cNvSpPr/>
          <p:nvPr/>
        </p:nvSpPr>
        <p:spPr>
          <a:xfrm>
            <a:off x="11183112" y="3514288"/>
            <a:ext cx="0" cy="180461"/>
          </a:xfrm>
          <a:prstGeom prst="line">
            <a:avLst/>
          </a:prstGeom>
          <a:noFill/>
          <a:ln w="15875">
            <a:solidFill>
              <a:srgbClr val="0B3D62"/>
            </a:solidFill>
            <a:prstDash val="solid"/>
            <a:tailEnd type="triangle"/>
          </a:ln>
        </p:spPr>
      </p:sp>
      <p:sp>
        <p:nvSpPr>
          <p:cNvPr id="249" name="Shape 89"/>
          <p:cNvSpPr/>
          <p:nvPr/>
        </p:nvSpPr>
        <p:spPr>
          <a:xfrm>
            <a:off x="10671048" y="3714119"/>
            <a:ext cx="1024128" cy="3789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250" name="Text 90"/>
          <p:cNvSpPr/>
          <p:nvPr/>
        </p:nvSpPr>
        <p:spPr>
          <a:xfrm>
            <a:off x="10689336" y="3714119"/>
            <a:ext cx="987552" cy="378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QR </a:t>
            </a: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</a:t>
            </a:r>
            <a:endParaRPr lang="en-US" sz="1050" b="1" dirty="0"/>
          </a:p>
        </p:txBody>
      </p:sp>
      <p:sp>
        <p:nvSpPr>
          <p:cNvPr id="251" name="Shape 91"/>
          <p:cNvSpPr/>
          <p:nvPr/>
        </p:nvSpPr>
        <p:spPr>
          <a:xfrm>
            <a:off x="9573768" y="3699830"/>
            <a:ext cx="1024128" cy="3789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252" name="Text 92"/>
          <p:cNvSpPr/>
          <p:nvPr/>
        </p:nvSpPr>
        <p:spPr>
          <a:xfrm>
            <a:off x="9592056" y="3699830"/>
            <a:ext cx="987552" cy="378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</a:t>
            </a:r>
            <a:endParaRPr lang="en-US" sz="12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URL</a:t>
            </a:r>
            <a:endParaRPr lang="en-US" sz="1200" dirty="0"/>
          </a:p>
        </p:txBody>
      </p:sp>
      <p:sp>
        <p:nvSpPr>
          <p:cNvPr id="253" name="Shape 93"/>
          <p:cNvSpPr/>
          <p:nvPr/>
        </p:nvSpPr>
        <p:spPr>
          <a:xfrm>
            <a:off x="8476488" y="3699830"/>
            <a:ext cx="1024128" cy="3789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254" name="Text 94"/>
          <p:cNvSpPr/>
          <p:nvPr/>
        </p:nvSpPr>
        <p:spPr>
          <a:xfrm>
            <a:off x="8494776" y="3699830"/>
            <a:ext cx="987552" cy="378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2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55" name="Shape 95"/>
          <p:cNvSpPr/>
          <p:nvPr/>
        </p:nvSpPr>
        <p:spPr>
          <a:xfrm>
            <a:off x="6281928" y="3699830"/>
            <a:ext cx="2121408" cy="3789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256" name="Text 96"/>
          <p:cNvSpPr/>
          <p:nvPr/>
        </p:nvSpPr>
        <p:spPr>
          <a:xfrm>
            <a:off x="6281928" y="3705344"/>
            <a:ext cx="2121408" cy="1082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2B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 RESULT</a:t>
            </a:r>
            <a:endParaRPr lang="en-US" sz="1200" b="1" dirty="0">
              <a:solidFill>
                <a:srgbClr val="082B4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7" name="Shape 97"/>
          <p:cNvSpPr/>
          <p:nvPr/>
        </p:nvSpPr>
        <p:spPr>
          <a:xfrm>
            <a:off x="6318504" y="3843472"/>
            <a:ext cx="658368" cy="180461"/>
          </a:xfrm>
          <a:prstGeom prst="roundRect">
            <a:avLst>
              <a:gd name="adj" fmla="val 30000"/>
            </a:avLst>
          </a:prstGeom>
          <a:solidFill>
            <a:srgbClr val="1E7B34"/>
          </a:solidFill>
        </p:spPr>
      </p:sp>
      <p:sp>
        <p:nvSpPr>
          <p:cNvPr id="258" name="Text 98"/>
          <p:cNvSpPr/>
          <p:nvPr/>
        </p:nvSpPr>
        <p:spPr>
          <a:xfrm>
            <a:off x="6318504" y="3843472"/>
            <a:ext cx="658368" cy="180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9" name="Shape 99"/>
          <p:cNvSpPr/>
          <p:nvPr/>
        </p:nvSpPr>
        <p:spPr>
          <a:xfrm>
            <a:off x="7013448" y="3864930"/>
            <a:ext cx="658368" cy="159003"/>
          </a:xfrm>
          <a:prstGeom prst="roundRect">
            <a:avLst>
              <a:gd name="adj" fmla="val 30000"/>
            </a:avLst>
          </a:prstGeom>
          <a:solidFill>
            <a:srgbClr val="B26A00"/>
          </a:solidFill>
        </p:spPr>
      </p:sp>
      <p:sp>
        <p:nvSpPr>
          <p:cNvPr id="260" name="Text 100"/>
          <p:cNvSpPr/>
          <p:nvPr/>
        </p:nvSpPr>
        <p:spPr>
          <a:xfrm>
            <a:off x="7013448" y="3843472"/>
            <a:ext cx="658368" cy="180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EXPIRED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1" name="Shape 101"/>
          <p:cNvSpPr/>
          <p:nvPr/>
        </p:nvSpPr>
        <p:spPr>
          <a:xfrm>
            <a:off x="7708392" y="3843472"/>
            <a:ext cx="658368" cy="180461"/>
          </a:xfrm>
          <a:prstGeom prst="roundRect">
            <a:avLst>
              <a:gd name="adj" fmla="val 30000"/>
            </a:avLst>
          </a:prstGeom>
          <a:solidFill>
            <a:srgbClr val="B3261E"/>
          </a:solidFill>
        </p:spPr>
      </p:sp>
      <p:sp>
        <p:nvSpPr>
          <p:cNvPr id="262" name="Text 102"/>
          <p:cNvSpPr/>
          <p:nvPr/>
        </p:nvSpPr>
        <p:spPr>
          <a:xfrm>
            <a:off x="7708392" y="3843472"/>
            <a:ext cx="658368" cy="180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REVOKED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3" name="Text 103"/>
          <p:cNvSpPr/>
          <p:nvPr/>
        </p:nvSpPr>
        <p:spPr>
          <a:xfrm>
            <a:off x="9500616" y="3699830"/>
            <a:ext cx="73152" cy="378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‹</a:t>
            </a:r>
            <a:endParaRPr lang="en-US" sz="120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4" name="Text 104"/>
          <p:cNvSpPr/>
          <p:nvPr/>
        </p:nvSpPr>
        <p:spPr>
          <a:xfrm>
            <a:off x="10597896" y="3699830"/>
            <a:ext cx="73152" cy="378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‹</a:t>
            </a:r>
            <a:endParaRPr lang="en-US" sz="120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5" name="Text 105"/>
          <p:cNvSpPr/>
          <p:nvPr/>
        </p:nvSpPr>
        <p:spPr>
          <a:xfrm>
            <a:off x="8403336" y="3699830"/>
            <a:ext cx="73152" cy="378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‹</a:t>
            </a:r>
            <a:endParaRPr lang="en-US" sz="120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7" name="Text 107"/>
          <p:cNvSpPr/>
          <p:nvPr/>
        </p:nvSpPr>
        <p:spPr>
          <a:xfrm>
            <a:off x="6281928" y="5017174"/>
            <a:ext cx="1828800" cy="126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82B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r>
              <a:rPr lang="en-US" sz="1200" b="1" dirty="0">
                <a:solidFill>
                  <a:srgbClr val="082B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STACK</a:t>
            </a:r>
            <a:endParaRPr lang="en-US" sz="1200" dirty="0"/>
          </a:p>
        </p:txBody>
      </p:sp>
      <p:sp>
        <p:nvSpPr>
          <p:cNvPr id="268" name="Shape 108"/>
          <p:cNvSpPr/>
          <p:nvPr/>
        </p:nvSpPr>
        <p:spPr>
          <a:xfrm>
            <a:off x="6281928" y="5174558"/>
            <a:ext cx="865632" cy="270691"/>
          </a:xfrm>
          <a:prstGeom prst="roundRect">
            <a:avLst>
              <a:gd name="adj" fmla="val 11667"/>
            </a:avLst>
          </a:prstGeom>
          <a:solidFill>
            <a:srgbClr val="EAF2F8"/>
          </a:solidFill>
          <a:ln w="7620">
            <a:solidFill>
              <a:srgbClr val="0E7C86"/>
            </a:solidFill>
            <a:prstDash val="solid"/>
          </a:ln>
        </p:spPr>
      </p:sp>
      <p:sp>
        <p:nvSpPr>
          <p:cNvPr id="269" name="Text 109"/>
          <p:cNvSpPr/>
          <p:nvPr/>
        </p:nvSpPr>
        <p:spPr>
          <a:xfrm>
            <a:off x="6300216" y="5174558"/>
            <a:ext cx="829056" cy="27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</a:t>
            </a:r>
            <a:endParaRPr lang="en-US" sz="1200" b="1" dirty="0">
              <a:solidFill>
                <a:srgbClr val="1F293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0" name="Text 110"/>
          <p:cNvSpPr/>
          <p:nvPr/>
        </p:nvSpPr>
        <p:spPr>
          <a:xfrm>
            <a:off x="7147560" y="5174558"/>
            <a:ext cx="54864" cy="27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20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1" name="Shape 111"/>
          <p:cNvSpPr/>
          <p:nvPr/>
        </p:nvSpPr>
        <p:spPr>
          <a:xfrm>
            <a:off x="7202424" y="5174558"/>
            <a:ext cx="865632" cy="270691"/>
          </a:xfrm>
          <a:prstGeom prst="roundRect">
            <a:avLst>
              <a:gd name="adj" fmla="val 11667"/>
            </a:avLst>
          </a:prstGeom>
          <a:solidFill>
            <a:srgbClr val="EAF2F8"/>
          </a:solidFill>
          <a:ln w="7620">
            <a:solidFill>
              <a:srgbClr val="0E7C86"/>
            </a:solidFill>
            <a:prstDash val="solid"/>
          </a:ln>
        </p:spPr>
      </p:sp>
      <p:sp>
        <p:nvSpPr>
          <p:cNvPr id="272" name="Text 112"/>
          <p:cNvSpPr/>
          <p:nvPr/>
        </p:nvSpPr>
        <p:spPr>
          <a:xfrm>
            <a:off x="7220712" y="5174558"/>
            <a:ext cx="829056" cy="27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Auth</a:t>
            </a:r>
            <a:endParaRPr lang="en-US" sz="1200" b="1" dirty="0">
              <a:solidFill>
                <a:srgbClr val="1F293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3" name="Text 113"/>
          <p:cNvSpPr/>
          <p:nvPr/>
        </p:nvSpPr>
        <p:spPr>
          <a:xfrm>
            <a:off x="8068056" y="5174558"/>
            <a:ext cx="54864" cy="27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20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4" name="Shape 114"/>
          <p:cNvSpPr/>
          <p:nvPr/>
        </p:nvSpPr>
        <p:spPr>
          <a:xfrm>
            <a:off x="8122920" y="5174558"/>
            <a:ext cx="865632" cy="270691"/>
          </a:xfrm>
          <a:prstGeom prst="roundRect">
            <a:avLst>
              <a:gd name="adj" fmla="val 11667"/>
            </a:avLst>
          </a:prstGeom>
          <a:solidFill>
            <a:srgbClr val="EAF2F8"/>
          </a:solidFill>
          <a:ln w="7620">
            <a:solidFill>
              <a:srgbClr val="0E7C86"/>
            </a:solidFill>
            <a:prstDash val="solid"/>
          </a:ln>
        </p:spPr>
      </p:sp>
      <p:sp>
        <p:nvSpPr>
          <p:cNvPr id="275" name="Text 115"/>
          <p:cNvSpPr/>
          <p:nvPr/>
        </p:nvSpPr>
        <p:spPr>
          <a:xfrm>
            <a:off x="8141208" y="5174558"/>
            <a:ext cx="829056" cy="27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RBAC</a:t>
            </a:r>
            <a:endParaRPr lang="en-US" sz="1200" b="1" dirty="0">
              <a:solidFill>
                <a:srgbClr val="1F293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6" name="Text 116"/>
          <p:cNvSpPr/>
          <p:nvPr/>
        </p:nvSpPr>
        <p:spPr>
          <a:xfrm>
            <a:off x="8988552" y="5174558"/>
            <a:ext cx="54864" cy="27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05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7" name="Shape 117"/>
          <p:cNvSpPr/>
          <p:nvPr/>
        </p:nvSpPr>
        <p:spPr>
          <a:xfrm>
            <a:off x="9043416" y="5174558"/>
            <a:ext cx="865632" cy="270691"/>
          </a:xfrm>
          <a:prstGeom prst="roundRect">
            <a:avLst>
              <a:gd name="adj" fmla="val 11667"/>
            </a:avLst>
          </a:prstGeom>
          <a:solidFill>
            <a:srgbClr val="EAF2F8"/>
          </a:solidFill>
          <a:ln w="7620">
            <a:solidFill>
              <a:srgbClr val="0E7C86"/>
            </a:solidFill>
            <a:prstDash val="solid"/>
          </a:ln>
        </p:spPr>
      </p:sp>
      <p:sp>
        <p:nvSpPr>
          <p:cNvPr id="278" name="Text 118"/>
          <p:cNvSpPr/>
          <p:nvPr/>
        </p:nvSpPr>
        <p:spPr>
          <a:xfrm>
            <a:off x="9061704" y="5174558"/>
            <a:ext cx="829056" cy="27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Input/File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279" name="Text 119"/>
          <p:cNvSpPr/>
          <p:nvPr/>
        </p:nvSpPr>
        <p:spPr>
          <a:xfrm>
            <a:off x="9909048" y="5174558"/>
            <a:ext cx="54864" cy="27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05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0" name="Shape 120"/>
          <p:cNvSpPr/>
          <p:nvPr/>
        </p:nvSpPr>
        <p:spPr>
          <a:xfrm>
            <a:off x="9963912" y="5174558"/>
            <a:ext cx="865632" cy="270691"/>
          </a:xfrm>
          <a:prstGeom prst="roundRect">
            <a:avLst>
              <a:gd name="adj" fmla="val 11667"/>
            </a:avLst>
          </a:prstGeom>
          <a:solidFill>
            <a:srgbClr val="EAF2F8"/>
          </a:solidFill>
          <a:ln w="7620">
            <a:solidFill>
              <a:srgbClr val="0E7C86"/>
            </a:solidFill>
            <a:prstDash val="solid"/>
          </a:ln>
        </p:spPr>
      </p:sp>
      <p:sp>
        <p:nvSpPr>
          <p:cNvPr id="281" name="Text 121"/>
          <p:cNvSpPr/>
          <p:nvPr/>
        </p:nvSpPr>
        <p:spPr>
          <a:xfrm>
            <a:off x="9982200" y="5174558"/>
            <a:ext cx="829056" cy="27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Encrypted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</a:t>
            </a:r>
            <a:endParaRPr lang="en-US" sz="1050" dirty="0"/>
          </a:p>
        </p:txBody>
      </p:sp>
      <p:sp>
        <p:nvSpPr>
          <p:cNvPr id="282" name="Text 122"/>
          <p:cNvSpPr/>
          <p:nvPr/>
        </p:nvSpPr>
        <p:spPr>
          <a:xfrm>
            <a:off x="10829544" y="5174558"/>
            <a:ext cx="54864" cy="27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20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3" name="Shape 123"/>
          <p:cNvSpPr/>
          <p:nvPr/>
        </p:nvSpPr>
        <p:spPr>
          <a:xfrm>
            <a:off x="10884408" y="5174558"/>
            <a:ext cx="865632" cy="270691"/>
          </a:xfrm>
          <a:prstGeom prst="roundRect">
            <a:avLst>
              <a:gd name="adj" fmla="val 11667"/>
            </a:avLst>
          </a:prstGeom>
          <a:solidFill>
            <a:srgbClr val="EAF2F8"/>
          </a:solidFill>
          <a:ln w="7620">
            <a:solidFill>
              <a:srgbClr val="0E7C86"/>
            </a:solidFill>
            <a:prstDash val="solid"/>
          </a:ln>
        </p:spPr>
      </p:sp>
      <p:sp>
        <p:nvSpPr>
          <p:cNvPr id="284" name="Text 124"/>
          <p:cNvSpPr/>
          <p:nvPr/>
        </p:nvSpPr>
        <p:spPr>
          <a:xfrm>
            <a:off x="10902696" y="5174558"/>
            <a:ext cx="829056" cy="27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285" name="Oval 284" descr="Your startup LOGO"/>
          <p:cNvSpPr/>
          <p:nvPr/>
        </p:nvSpPr>
        <p:spPr>
          <a:xfrm>
            <a:off x="413593" y="75137"/>
            <a:ext cx="1251857" cy="84789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 err="1">
                <a:latin typeface="Arial Narrow" panose="020B0606020202030204" pitchFamily="34" charset="0"/>
              </a:rPr>
              <a:t>VisionX</a:t>
            </a:r>
            <a:endParaRPr lang="en-IN" b="1" i="1" dirty="0">
              <a:latin typeface="Arial Narrow" panose="020B0606020202030204" pitchFamily="34" charset="0"/>
            </a:endParaRPr>
          </a:p>
        </p:txBody>
      </p:sp>
      <p:sp>
        <p:nvSpPr>
          <p:cNvPr id="133" name="Shape 131"/>
          <p:cNvSpPr/>
          <p:nvPr/>
        </p:nvSpPr>
        <p:spPr>
          <a:xfrm>
            <a:off x="411480" y="5044059"/>
            <a:ext cx="685800" cy="292608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29768" y="5044059"/>
            <a:ext cx="6492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050" b="1" dirty="0">
              <a:solidFill>
                <a:srgbClr val="1F293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5" name="Text 133"/>
          <p:cNvSpPr/>
          <p:nvPr/>
        </p:nvSpPr>
        <p:spPr>
          <a:xfrm>
            <a:off x="1097280" y="5044059"/>
            <a:ext cx="822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05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6" name="Shape 134"/>
          <p:cNvSpPr/>
          <p:nvPr/>
        </p:nvSpPr>
        <p:spPr>
          <a:xfrm>
            <a:off x="1179576" y="5044059"/>
            <a:ext cx="685800" cy="292608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197864" y="5044059"/>
            <a:ext cx="6492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Instrument</a:t>
            </a:r>
            <a:endParaRPr lang="en-US" sz="1050" b="1" dirty="0">
              <a:solidFill>
                <a:srgbClr val="1F293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8" name="Text 136"/>
          <p:cNvSpPr/>
          <p:nvPr/>
        </p:nvSpPr>
        <p:spPr>
          <a:xfrm>
            <a:off x="1865376" y="5044059"/>
            <a:ext cx="822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05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9" name="Shape 137"/>
          <p:cNvSpPr/>
          <p:nvPr/>
        </p:nvSpPr>
        <p:spPr>
          <a:xfrm>
            <a:off x="1947672" y="5044059"/>
            <a:ext cx="685800" cy="292608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965960" y="5044059"/>
            <a:ext cx="6492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050" b="1" dirty="0">
              <a:solidFill>
                <a:srgbClr val="1F293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1" name="Text 139"/>
          <p:cNvSpPr/>
          <p:nvPr/>
        </p:nvSpPr>
        <p:spPr>
          <a:xfrm>
            <a:off x="2633472" y="5044059"/>
            <a:ext cx="822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05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2" name="Shape 140"/>
          <p:cNvSpPr/>
          <p:nvPr/>
        </p:nvSpPr>
        <p:spPr>
          <a:xfrm>
            <a:off x="2715768" y="5044059"/>
            <a:ext cx="685800" cy="292608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2734056" y="5044059"/>
            <a:ext cx="6492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</a:t>
            </a:r>
            <a:endParaRPr lang="en-US" sz="1050" b="1" dirty="0">
              <a:solidFill>
                <a:srgbClr val="1F293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4" name="Text 142"/>
          <p:cNvSpPr/>
          <p:nvPr/>
        </p:nvSpPr>
        <p:spPr>
          <a:xfrm>
            <a:off x="3401568" y="5044059"/>
            <a:ext cx="822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05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5" name="Shape 143"/>
          <p:cNvSpPr/>
          <p:nvPr/>
        </p:nvSpPr>
        <p:spPr>
          <a:xfrm>
            <a:off x="3483864" y="5044059"/>
            <a:ext cx="685800" cy="292608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3502152" y="5044059"/>
            <a:ext cx="6492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Inspection</a:t>
            </a:r>
            <a:endParaRPr lang="en-US" sz="1050" b="1" dirty="0">
              <a:solidFill>
                <a:srgbClr val="1F293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7" name="Text 145"/>
          <p:cNvSpPr/>
          <p:nvPr/>
        </p:nvSpPr>
        <p:spPr>
          <a:xfrm>
            <a:off x="4169664" y="5044059"/>
            <a:ext cx="822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05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8" name="Shape 146"/>
          <p:cNvSpPr/>
          <p:nvPr/>
        </p:nvSpPr>
        <p:spPr>
          <a:xfrm>
            <a:off x="4251960" y="5044059"/>
            <a:ext cx="685800" cy="292608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70248" y="5044059"/>
            <a:ext cx="6492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Certificate</a:t>
            </a:r>
            <a:endParaRPr lang="en-US" sz="1050" b="1" dirty="0">
              <a:solidFill>
                <a:srgbClr val="1F293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0" name="Text 148"/>
          <p:cNvSpPr/>
          <p:nvPr/>
        </p:nvSpPr>
        <p:spPr>
          <a:xfrm>
            <a:off x="4937760" y="5044059"/>
            <a:ext cx="822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050" b="1" dirty="0">
              <a:solidFill>
                <a:srgbClr val="0E7C8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1" name="Shape 149"/>
          <p:cNvSpPr/>
          <p:nvPr/>
        </p:nvSpPr>
        <p:spPr>
          <a:xfrm>
            <a:off x="5020056" y="5044059"/>
            <a:ext cx="685800" cy="292608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9525">
            <a:solidFill>
              <a:srgbClr val="0B3D62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038344" y="5044059"/>
            <a:ext cx="6492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QR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153" name="Shape 151"/>
          <p:cNvSpPr/>
          <p:nvPr/>
        </p:nvSpPr>
        <p:spPr>
          <a:xfrm>
            <a:off x="754380" y="5336667"/>
            <a:ext cx="0" cy="164592"/>
          </a:xfrm>
          <a:prstGeom prst="line">
            <a:avLst/>
          </a:prstGeom>
          <a:noFill/>
          <a:ln w="127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54" name="Shape 152"/>
          <p:cNvSpPr/>
          <p:nvPr/>
        </p:nvSpPr>
        <p:spPr>
          <a:xfrm>
            <a:off x="411480" y="5501259"/>
            <a:ext cx="685800" cy="274320"/>
          </a:xfrm>
          <a:prstGeom prst="roundRect">
            <a:avLst>
              <a:gd name="adj" fmla="val 11667"/>
            </a:avLst>
          </a:prstGeom>
          <a:solidFill>
            <a:srgbClr val="EAF2F8"/>
          </a:solidFill>
          <a:ln w="7620">
            <a:solidFill>
              <a:srgbClr val="9FB9CC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29768" y="5501259"/>
            <a:ext cx="6492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</a:t>
            </a:r>
            <a:endParaRPr lang="en-US" sz="1050" dirty="0"/>
          </a:p>
        </p:txBody>
      </p:sp>
      <p:sp>
        <p:nvSpPr>
          <p:cNvPr id="156" name="Shape 154"/>
          <p:cNvSpPr/>
          <p:nvPr/>
        </p:nvSpPr>
        <p:spPr>
          <a:xfrm>
            <a:off x="3826764" y="5336667"/>
            <a:ext cx="0" cy="164592"/>
          </a:xfrm>
          <a:prstGeom prst="line">
            <a:avLst/>
          </a:prstGeom>
          <a:noFill/>
          <a:ln w="127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57" name="Shape 155"/>
          <p:cNvSpPr/>
          <p:nvPr/>
        </p:nvSpPr>
        <p:spPr>
          <a:xfrm>
            <a:off x="3483864" y="5501259"/>
            <a:ext cx="685800" cy="274320"/>
          </a:xfrm>
          <a:prstGeom prst="roundRect">
            <a:avLst>
              <a:gd name="adj" fmla="val 11667"/>
            </a:avLst>
          </a:prstGeom>
          <a:solidFill>
            <a:srgbClr val="EAF2F8"/>
          </a:solidFill>
          <a:ln w="7620">
            <a:solidFill>
              <a:srgbClr val="9FB9CC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502152" y="5501259"/>
            <a:ext cx="6492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Inspection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Photos</a:t>
            </a:r>
            <a:endParaRPr lang="en-US" sz="1050" dirty="0"/>
          </a:p>
        </p:txBody>
      </p:sp>
      <p:sp>
        <p:nvSpPr>
          <p:cNvPr id="159" name="Shape 157"/>
          <p:cNvSpPr/>
          <p:nvPr/>
        </p:nvSpPr>
        <p:spPr>
          <a:xfrm>
            <a:off x="4594860" y="5336667"/>
            <a:ext cx="0" cy="164592"/>
          </a:xfrm>
          <a:prstGeom prst="line">
            <a:avLst/>
          </a:prstGeom>
          <a:noFill/>
          <a:ln w="127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60" name="Shape 158"/>
          <p:cNvSpPr/>
          <p:nvPr/>
        </p:nvSpPr>
        <p:spPr>
          <a:xfrm>
            <a:off x="4251960" y="5501259"/>
            <a:ext cx="685800" cy="274320"/>
          </a:xfrm>
          <a:prstGeom prst="roundRect">
            <a:avLst>
              <a:gd name="adj" fmla="val 11667"/>
            </a:avLst>
          </a:prstGeom>
          <a:solidFill>
            <a:srgbClr val="EAF2F8"/>
          </a:solidFill>
          <a:ln w="7620">
            <a:solidFill>
              <a:srgbClr val="9FB9CC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270248" y="5501259"/>
            <a:ext cx="6492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Signature</a:t>
            </a:r>
            <a:endParaRPr lang="en-US" sz="1050" dirty="0"/>
          </a:p>
        </p:txBody>
      </p:sp>
      <p:sp>
        <p:nvSpPr>
          <p:cNvPr id="127" name="Shape 125"/>
          <p:cNvSpPr/>
          <p:nvPr/>
        </p:nvSpPr>
        <p:spPr>
          <a:xfrm>
            <a:off x="381000" y="4741545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0B3D62"/>
          </a:solidFill>
        </p:spPr>
      </p:sp>
      <p:sp>
        <p:nvSpPr>
          <p:cNvPr id="128" name="Text 126"/>
          <p:cNvSpPr/>
          <p:nvPr/>
        </p:nvSpPr>
        <p:spPr>
          <a:xfrm>
            <a:off x="381000" y="4741545"/>
            <a:ext cx="1645920" cy="201168"/>
          </a:xfrm>
          <a:prstGeom prst="rect">
            <a:avLst/>
          </a:prstGeom>
          <a:solidFill>
            <a:srgbClr val="0070C0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/>
          <p:cNvSpPr/>
          <p:nvPr/>
        </p:nvSpPr>
        <p:spPr>
          <a:xfrm>
            <a:off x="273893" y="117682"/>
            <a:ext cx="1251857" cy="84789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 err="1">
                <a:latin typeface="Arial Narrow" panose="020B0606020202030204" pitchFamily="34" charset="0"/>
              </a:rPr>
              <a:t>VisionX</a:t>
            </a:r>
            <a:endParaRPr lang="en-IN" b="1" i="1" dirty="0">
              <a:latin typeface="Arial Narrow" panose="020B0606020202030204" pitchFamily="34" charset="0"/>
            </a:endParaRPr>
          </a:p>
        </p:txBody>
      </p:sp>
      <p:pic>
        <p:nvPicPr>
          <p:cNvPr id="8" name="Picture 7" descr="Gemini_Generated_Image_j36g8lj36g8lj36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2045"/>
            <a:ext cx="12192000" cy="52095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85" name="Oval 284" descr="Your startup LOGO"/>
          <p:cNvSpPr/>
          <p:nvPr/>
        </p:nvSpPr>
        <p:spPr>
          <a:xfrm>
            <a:off x="329773" y="117047"/>
            <a:ext cx="1251857" cy="84789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 err="1">
                <a:latin typeface="Arial Narrow" panose="020B0606020202030204" pitchFamily="34" charset="0"/>
              </a:rPr>
              <a:t>VisionX</a:t>
            </a:r>
            <a:endParaRPr lang="en-IN" b="1" i="1" dirty="0">
              <a:latin typeface="Arial Narrow" panose="020B0606020202030204" pitchFamily="34" charset="0"/>
            </a:endParaRPr>
          </a:p>
        </p:txBody>
      </p:sp>
      <p:pic>
        <p:nvPicPr>
          <p:cNvPr id="3" name="Picture 2" descr="ChatGPT Image Sep 2, 2026, 01_06_30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105" y="1017905"/>
            <a:ext cx="10062845" cy="53511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85" name="Oval 284" descr="Your startup LOGO"/>
          <p:cNvSpPr/>
          <p:nvPr/>
        </p:nvSpPr>
        <p:spPr>
          <a:xfrm>
            <a:off x="329773" y="61167"/>
            <a:ext cx="1251857" cy="84789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 err="1">
                <a:latin typeface="Arial Narrow" panose="020B0606020202030204" pitchFamily="34" charset="0"/>
              </a:rPr>
              <a:t>VisionX</a:t>
            </a:r>
            <a:endParaRPr lang="en-IN" b="1" i="1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2343</Words>
  <Application>WPS Presentation</Application>
  <PresentationFormat>Widescreen</PresentationFormat>
  <Paragraphs>238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Garamond</vt:lpstr>
      <vt:lpstr>PMingLiU-ExtB</vt:lpstr>
      <vt:lpstr>Times New Roman</vt:lpstr>
      <vt:lpstr>Times New Roman</vt:lpstr>
      <vt:lpstr>Arial Narrow</vt:lpstr>
      <vt:lpstr>Aptos</vt:lpstr>
      <vt:lpstr>Segoe UI</vt:lpstr>
      <vt:lpstr>Calibri</vt:lpstr>
      <vt:lpstr>Calibri</vt:lpstr>
      <vt:lpstr>Calibri</vt:lpstr>
      <vt:lpstr>Microsoft YaHei</vt:lpstr>
      <vt:lpstr>Arial Unicode MS</vt:lpstr>
      <vt:lpstr>Nirmala UI Semilight</vt:lpstr>
      <vt:lpstr>Segoe UI Black</vt:lpstr>
      <vt:lpstr>Office Theme</vt:lpstr>
      <vt:lpstr>SMART INDIA HACKATHON 2026</vt:lpstr>
      <vt:lpstr> MeasureSure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Ganesh Gundumogula</cp:lastModifiedBy>
  <cp:revision>183</cp:revision>
  <dcterms:created xsi:type="dcterms:W3CDTF">2013-12-12T18:46:00Z</dcterms:created>
  <dcterms:modified xsi:type="dcterms:W3CDTF">2026-09-02T07:43:05Z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FFCE6D0C3C04488092D1DCFB5517142D_12</vt:lpwstr>
  </property>
  <property fmtid="{D5CDD505-2E9C-101B-9397-08002B2CF9AE}" pid="3" name="KSOProductBuildVer">
    <vt:lpwstr>2057-12.2.0.23206</vt:lpwstr>
  </property>
</Properties>
</file>