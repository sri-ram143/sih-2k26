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  <p:sldId id="297" r:id="rId8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7" d="100"/>
          <a:sy n="67" d="100"/>
        </p:scale>
        <p:origin x="834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8/31/2026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4107" y="1304185"/>
            <a:ext cx="6854891" cy="52290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000" dirty="0"/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ID- SIH26036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 Development of an Online Verification System for Weighing and Measuring Instruments.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Theme- Miscellaneous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PS Category- Software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Team ID- VisionX_RGUKTN_SIH26036_003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Team Name- </a:t>
            </a:r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VisionX_RGUKTN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en-IN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1" name="Google Shape;132;p25">
            <a:extLst>
              <a:ext uri="{FF2B5EF4-FFF2-40B4-BE49-F238E27FC236}">
                <a16:creationId xmlns:a16="http://schemas.microsoft.com/office/drawing/2014/main" id="{F72E6AD6-C644-4108-8378-BB6C89A1687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210185" y="552836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</a:pPr>
            <a:endParaRPr b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ctr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TITLE PAGE</a:t>
            </a:r>
            <a:endParaRPr b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62064" y="-434978"/>
            <a:ext cx="10972800" cy="1143000"/>
          </a:xfrm>
        </p:spPr>
        <p:txBody>
          <a:bodyPr/>
          <a:lstStyle/>
          <a:p>
            <a:pPr eaLnBrk="1" hangingPunct="1"/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 err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MeasureSure</a:t>
            </a:r>
            <a:endParaRPr lang="en-US" sz="3600" b="1" dirty="0">
              <a:latin typeface="Times New Roman" panose="02020603050405020304" pitchFamily="18" charset="0"/>
              <a:ea typeface="ＭＳ Ｐゴシック" pitchFamily="1" charset="-128"/>
              <a:cs typeface="Times New Roman" panose="02020603050405020304" pitchFamily="18" charset="0"/>
            </a:endParaRP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-1" y="819652"/>
            <a:ext cx="12191999" cy="544764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800" b="1" u="sng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Proposed Solution (Describe your Idea/Solution/Prototype)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endParaRPr lang="en-US" sz="2800" b="1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600" b="1" dirty="0">
                <a:latin typeface="Arial" pitchFamily="34" charset="0"/>
                <a:cs typeface="Arial" pitchFamily="34" charset="0"/>
              </a:rPr>
              <a:t>Detailed explanation of the proposed solution: </a:t>
            </a:r>
            <a:r>
              <a:rPr lang="en-US" sz="2600" dirty="0"/>
              <a:t>To develop </a:t>
            </a:r>
            <a:r>
              <a:rPr lang="en-US" sz="2600" b="1" dirty="0" err="1"/>
              <a:t>MeasureSure</a:t>
            </a:r>
            <a:r>
              <a:rPr lang="en-US" sz="2600" dirty="0"/>
              <a:t>, a secure digital platform for online registration, verification, inspection, and certification of weighing and measuring instruments.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sz="2600" b="1" dirty="0">
              <a:latin typeface="Arial" pitchFamily="34" charset="0"/>
              <a:cs typeface="Arial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600" b="1" dirty="0">
                <a:latin typeface="Arial" pitchFamily="34" charset="0"/>
                <a:cs typeface="Arial" pitchFamily="34" charset="0"/>
              </a:rPr>
              <a:t>How it addresses the problem: </a:t>
            </a:r>
            <a:r>
              <a:rPr lang="en-US" sz="2600" dirty="0"/>
              <a:t>Provides a centralized system for </a:t>
            </a:r>
            <a:r>
              <a:rPr lang="en-US" sz="2600" b="1" dirty="0"/>
              <a:t>online applications, scheduling, digital records, certificate tracking, and automated expiry alerts</a:t>
            </a:r>
            <a:r>
              <a:rPr lang="en-US" sz="2600" dirty="0"/>
              <a:t>, reducing paperwork and improving transparency and efficiency.</a:t>
            </a:r>
            <a:endParaRPr lang="en-US" sz="2600" b="1" dirty="0">
              <a:latin typeface="Arial" pitchFamily="34" charset="0"/>
              <a:cs typeface="Arial" pitchFamily="34" charset="0"/>
            </a:endParaRPr>
          </a:p>
          <a:p>
            <a:pPr algn="just"/>
            <a:endParaRPr lang="en-US" sz="2600" b="1" dirty="0">
              <a:latin typeface="Arial" pitchFamily="34" charset="0"/>
              <a:cs typeface="Arial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600" b="1" dirty="0">
                <a:latin typeface="Arial" pitchFamily="34" charset="0"/>
                <a:cs typeface="Arial" pitchFamily="34" charset="0"/>
              </a:rPr>
              <a:t>Innovation and uniqueness of the solution :</a:t>
            </a:r>
            <a:r>
              <a:rPr lang="en-US" sz="2800" dirty="0"/>
              <a:t>Integrates </a:t>
            </a:r>
            <a:r>
              <a:rPr lang="en-US" sz="2800" b="1" dirty="0"/>
              <a:t>QR-based certificate verification, digital instrument identity, secure records, and real-time compliance monitoring</a:t>
            </a:r>
            <a:r>
              <a:rPr lang="en-US" sz="2800" dirty="0"/>
              <a:t> into a single end-to-end Legal Metrology platform.</a:t>
            </a:r>
            <a:endParaRPr lang="en-US" sz="26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5287"/>
            <a:ext cx="1251857" cy="847892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VisionX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15096875-E6AB-47C5-BF9F-BD05415ECF22}"/>
              </a:ext>
            </a:extLst>
          </p:cNvPr>
          <p:cNvSpPr txBox="1"/>
          <p:nvPr/>
        </p:nvSpPr>
        <p:spPr>
          <a:xfrm>
            <a:off x="382908" y="1028143"/>
            <a:ext cx="11058144" cy="33855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l"/>
            <a:r>
              <a:rPr sz="1600" b="1" dirty="0">
                <a:solidFill>
                  <a:srgbClr val="FFFFFF"/>
                </a:solidFill>
                <a:latin typeface="Aptos"/>
              </a:rPr>
              <a:t>01</a:t>
            </a:r>
            <a:r>
              <a:rPr sz="810" b="1" dirty="0">
                <a:solidFill>
                  <a:srgbClr val="FFFFFF"/>
                </a:solidFill>
                <a:latin typeface="Aptos"/>
              </a:rPr>
              <a:t>  </a:t>
            </a:r>
            <a:r>
              <a:rPr sz="1600" b="1" dirty="0">
                <a:solidFill>
                  <a:srgbClr val="FFFFFF"/>
                </a:solidFill>
                <a:latin typeface="Aptos"/>
              </a:rPr>
              <a:t>SYSTEM</a:t>
            </a:r>
            <a:r>
              <a:rPr sz="810" b="1" dirty="0">
                <a:solidFill>
                  <a:srgbClr val="FFFFFF"/>
                </a:solidFill>
                <a:latin typeface="Aptos"/>
              </a:rPr>
              <a:t> </a:t>
            </a:r>
            <a:r>
              <a:rPr sz="1600" b="1" dirty="0">
                <a:solidFill>
                  <a:srgbClr val="FFFFFF"/>
                </a:solidFill>
                <a:latin typeface="Aptos"/>
              </a:rPr>
              <a:t>ARCHITECTURE</a:t>
            </a:r>
            <a:r>
              <a:rPr sz="810" b="1" dirty="0">
                <a:solidFill>
                  <a:srgbClr val="FFFFFF"/>
                </a:solidFill>
                <a:latin typeface="Aptos"/>
              </a:rPr>
              <a:t>  |  </a:t>
            </a:r>
            <a:r>
              <a:rPr sz="1600" b="1" dirty="0">
                <a:solidFill>
                  <a:srgbClr val="FFFFFF"/>
                </a:solidFill>
                <a:latin typeface="Aptos"/>
              </a:rPr>
              <a:t>MODULAR</a:t>
            </a:r>
            <a:r>
              <a:rPr sz="810" b="1" dirty="0">
                <a:solidFill>
                  <a:srgbClr val="FFFFFF"/>
                </a:solidFill>
                <a:latin typeface="Aptos"/>
              </a:rPr>
              <a:t>, </a:t>
            </a:r>
            <a:r>
              <a:rPr sz="1600" b="1" dirty="0">
                <a:solidFill>
                  <a:srgbClr val="FFFFFF"/>
                </a:solidFill>
                <a:latin typeface="Aptos"/>
              </a:rPr>
              <a:t>SECURE</a:t>
            </a:r>
            <a:r>
              <a:rPr sz="810" b="1" dirty="0">
                <a:solidFill>
                  <a:srgbClr val="FFFFFF"/>
                </a:solidFill>
                <a:latin typeface="Aptos"/>
              </a:rPr>
              <a:t> </a:t>
            </a:r>
            <a:r>
              <a:rPr sz="1600" b="1" dirty="0">
                <a:solidFill>
                  <a:srgbClr val="FFFFFF"/>
                </a:solidFill>
                <a:latin typeface="Aptos"/>
              </a:rPr>
              <a:t>WORKFLOW</a:t>
            </a:r>
            <a:r>
              <a:rPr sz="810" b="1" dirty="0">
                <a:solidFill>
                  <a:srgbClr val="FFFFFF"/>
                </a:solidFill>
                <a:latin typeface="Aptos"/>
              </a:rPr>
              <a:t> </a:t>
            </a:r>
            <a:r>
              <a:rPr sz="1600" b="1" dirty="0">
                <a:solidFill>
                  <a:srgbClr val="FFFFFF"/>
                </a:solidFill>
                <a:latin typeface="Aptos"/>
              </a:rPr>
              <a:t>PLATFORM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E956EA7-E9D5-45D3-9171-48401C66EBE2}"/>
              </a:ext>
            </a:extLst>
          </p:cNvPr>
          <p:cNvSpPr txBox="1"/>
          <p:nvPr/>
        </p:nvSpPr>
        <p:spPr>
          <a:xfrm>
            <a:off x="512063" y="1444248"/>
            <a:ext cx="1426464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dirty="0">
                <a:solidFill>
                  <a:srgbClr val="11375C"/>
                </a:solidFill>
                <a:latin typeface="Aptos"/>
              </a:rPr>
              <a:t>USERS / STAKEHOLDERS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C4993EA-5EF1-4ECE-AB4F-7E738D8D7AC4}"/>
              </a:ext>
            </a:extLst>
          </p:cNvPr>
          <p:cNvSpPr txBox="1"/>
          <p:nvPr/>
        </p:nvSpPr>
        <p:spPr>
          <a:xfrm>
            <a:off x="530352" y="1767965"/>
            <a:ext cx="1389888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dirty="0">
                <a:solidFill>
                  <a:srgbClr val="26303A"/>
                </a:solidFill>
                <a:latin typeface="Aptos"/>
              </a:rPr>
              <a:t>Owner • LMO • GATC • Admin • Public Verifier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A3BA500-9395-438B-9871-6CA5FAB5B350}"/>
              </a:ext>
            </a:extLst>
          </p:cNvPr>
          <p:cNvSpPr txBox="1"/>
          <p:nvPr/>
        </p:nvSpPr>
        <p:spPr>
          <a:xfrm>
            <a:off x="2283968" y="1547717"/>
            <a:ext cx="1911095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dirty="0">
                <a:solidFill>
                  <a:srgbClr val="11375C"/>
                </a:solidFill>
                <a:latin typeface="Aptos"/>
              </a:rPr>
              <a:t>CLIENT LAYER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D20A615-D892-4BE5-868F-C81E65BEC575}"/>
              </a:ext>
            </a:extLst>
          </p:cNvPr>
          <p:cNvSpPr txBox="1"/>
          <p:nvPr/>
        </p:nvSpPr>
        <p:spPr>
          <a:xfrm>
            <a:off x="2286000" y="1860298"/>
            <a:ext cx="1874519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dirty="0">
                <a:solidFill>
                  <a:srgbClr val="26303A"/>
                </a:solidFill>
                <a:latin typeface="Aptos"/>
              </a:rPr>
              <a:t>React / Next.js Web
Flutter Mobile • Field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BA063E9-730C-4518-BD98-F883DAC8C9C1}"/>
              </a:ext>
            </a:extLst>
          </p:cNvPr>
          <p:cNvSpPr txBox="1"/>
          <p:nvPr/>
        </p:nvSpPr>
        <p:spPr>
          <a:xfrm>
            <a:off x="4572000" y="1536580"/>
            <a:ext cx="2642615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dirty="0">
                <a:solidFill>
                  <a:srgbClr val="11375C"/>
                </a:solidFill>
                <a:latin typeface="Aptos"/>
              </a:rPr>
              <a:t>BACKEND API  •  Node.js + </a:t>
            </a:r>
            <a:r>
              <a:rPr sz="1200" b="1" dirty="0" err="1">
                <a:solidFill>
                  <a:srgbClr val="11375C"/>
                </a:solidFill>
                <a:latin typeface="Aptos"/>
              </a:rPr>
              <a:t>NestJS</a:t>
            </a:r>
            <a:endParaRPr sz="1200" b="1" dirty="0">
              <a:solidFill>
                <a:srgbClr val="11375C"/>
              </a:solidFill>
              <a:latin typeface="Aptos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84FD53-B36C-4887-BC3E-965243434199}"/>
              </a:ext>
            </a:extLst>
          </p:cNvPr>
          <p:cNvSpPr txBox="1"/>
          <p:nvPr/>
        </p:nvSpPr>
        <p:spPr>
          <a:xfrm>
            <a:off x="4590288" y="1767965"/>
            <a:ext cx="2606039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26303A"/>
                </a:solidFill>
                <a:latin typeface="Aptos"/>
              </a:rPr>
              <a:t>Auth • RBAC • Workflow • Scheduling
Inspection • Certificate • Notify • Audit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78284C8-2214-44B6-AB36-4BFE1F6976B3}"/>
              </a:ext>
            </a:extLst>
          </p:cNvPr>
          <p:cNvSpPr txBox="1"/>
          <p:nvPr/>
        </p:nvSpPr>
        <p:spPr>
          <a:xfrm>
            <a:off x="7571231" y="1536580"/>
            <a:ext cx="4114800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dirty="0">
                <a:solidFill>
                  <a:srgbClr val="11375C"/>
                </a:solidFill>
                <a:latin typeface="Aptos"/>
              </a:rPr>
              <a:t>DATA + INFRASTRUCTURE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C86D2E9-06F4-43DC-B659-37DDE079B3A3}"/>
              </a:ext>
            </a:extLst>
          </p:cNvPr>
          <p:cNvSpPr txBox="1"/>
          <p:nvPr/>
        </p:nvSpPr>
        <p:spPr>
          <a:xfrm>
            <a:off x="7589519" y="1860298"/>
            <a:ext cx="4078224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dirty="0">
                <a:solidFill>
                  <a:srgbClr val="26303A"/>
                </a:solidFill>
                <a:latin typeface="Aptos"/>
              </a:rPr>
              <a:t>PostgreSQL • Secure Object Storage • PDF Certificates
Docker + Cloud • Notifications</a:t>
            </a:r>
          </a:p>
        </p:txBody>
      </p:sp>
      <p:cxnSp>
        <p:nvCxnSpPr>
          <p:cNvPr id="35" name="Connector 18">
            <a:extLst>
              <a:ext uri="{FF2B5EF4-FFF2-40B4-BE49-F238E27FC236}">
                <a16:creationId xmlns:a16="http://schemas.microsoft.com/office/drawing/2014/main" id="{50D7798F-C1B0-4E58-82E7-5C071187B19D}"/>
              </a:ext>
            </a:extLst>
          </p:cNvPr>
          <p:cNvCxnSpPr/>
          <p:nvPr/>
        </p:nvCxnSpPr>
        <p:spPr>
          <a:xfrm>
            <a:off x="2011680" y="2004263"/>
            <a:ext cx="182880" cy="0"/>
          </a:xfrm>
          <a:prstGeom prst="line">
            <a:avLst/>
          </a:prstGeom>
          <a:ln w="16510">
            <a:solidFill>
              <a:srgbClr val="008B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19">
            <a:extLst>
              <a:ext uri="{FF2B5EF4-FFF2-40B4-BE49-F238E27FC236}">
                <a16:creationId xmlns:a16="http://schemas.microsoft.com/office/drawing/2014/main" id="{8FBB733A-C716-46EC-8150-8D7F8EF6CF30}"/>
              </a:ext>
            </a:extLst>
          </p:cNvPr>
          <p:cNvCxnSpPr/>
          <p:nvPr/>
        </p:nvCxnSpPr>
        <p:spPr>
          <a:xfrm>
            <a:off x="4251960" y="2004263"/>
            <a:ext cx="246888" cy="0"/>
          </a:xfrm>
          <a:prstGeom prst="line">
            <a:avLst/>
          </a:prstGeom>
          <a:ln w="16510">
            <a:solidFill>
              <a:srgbClr val="008B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20">
            <a:extLst>
              <a:ext uri="{FF2B5EF4-FFF2-40B4-BE49-F238E27FC236}">
                <a16:creationId xmlns:a16="http://schemas.microsoft.com/office/drawing/2014/main" id="{D03D6559-A400-4FA1-B9BB-47453648B7DD}"/>
              </a:ext>
            </a:extLst>
          </p:cNvPr>
          <p:cNvCxnSpPr/>
          <p:nvPr/>
        </p:nvCxnSpPr>
        <p:spPr>
          <a:xfrm>
            <a:off x="7287768" y="2004263"/>
            <a:ext cx="210311" cy="0"/>
          </a:xfrm>
          <a:prstGeom prst="line">
            <a:avLst/>
          </a:prstGeom>
          <a:ln w="16510">
            <a:solidFill>
              <a:srgbClr val="008B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Shape 35">
            <a:extLst>
              <a:ext uri="{FF2B5EF4-FFF2-40B4-BE49-F238E27FC236}">
                <a16:creationId xmlns:a16="http://schemas.microsoft.com/office/drawing/2014/main" id="{4FBCCFF9-DEA1-4293-AA4D-8FF3BEE6D665}"/>
              </a:ext>
            </a:extLst>
          </p:cNvPr>
          <p:cNvSpPr/>
          <p:nvPr/>
        </p:nvSpPr>
        <p:spPr>
          <a:xfrm>
            <a:off x="374336" y="2660336"/>
            <a:ext cx="2514600" cy="201168"/>
          </a:xfrm>
          <a:prstGeom prst="roundRect">
            <a:avLst>
              <a:gd name="adj" fmla="val 22727"/>
            </a:avLst>
          </a:prstGeom>
          <a:solidFill>
            <a:srgbClr val="0B3D62"/>
          </a:solidFill>
          <a:ln/>
        </p:spPr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66B2D706-9575-4AE1-B6DC-4040F0958397}"/>
              </a:ext>
            </a:extLst>
          </p:cNvPr>
          <p:cNvSpPr/>
          <p:nvPr/>
        </p:nvSpPr>
        <p:spPr>
          <a:xfrm>
            <a:off x="274325" y="266033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WORKFLOW</a:t>
            </a:r>
            <a:endParaRPr lang="en-US" sz="1600" dirty="0"/>
          </a:p>
        </p:txBody>
      </p:sp>
      <p:sp>
        <p:nvSpPr>
          <p:cNvPr id="40" name="Shape 38">
            <a:extLst>
              <a:ext uri="{FF2B5EF4-FFF2-40B4-BE49-F238E27FC236}">
                <a16:creationId xmlns:a16="http://schemas.microsoft.com/office/drawing/2014/main" id="{EC63564B-7149-4739-B323-99103900B62E}"/>
              </a:ext>
            </a:extLst>
          </p:cNvPr>
          <p:cNvSpPr/>
          <p:nvPr/>
        </p:nvSpPr>
        <p:spPr>
          <a:xfrm>
            <a:off x="411480" y="2989520"/>
            <a:ext cx="1024128" cy="402336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9525">
            <a:solidFill>
              <a:srgbClr val="0B3D62"/>
            </a:solidFill>
            <a:prstDash val="solid"/>
          </a:ln>
        </p:spPr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EEF9F729-3F8C-4F16-8AB7-D7482DA15FFE}"/>
              </a:ext>
            </a:extLst>
          </p:cNvPr>
          <p:cNvSpPr/>
          <p:nvPr/>
        </p:nvSpPr>
        <p:spPr>
          <a:xfrm>
            <a:off x="429768" y="2989520"/>
            <a:ext cx="9875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</a:t>
            </a:r>
            <a:endParaRPr lang="en-US" sz="1000" dirty="0"/>
          </a:p>
          <a:p>
            <a:pPr marL="0" indent="0" algn="ctr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</a:t>
            </a:r>
            <a:endParaRPr lang="en-US" sz="1000" dirty="0"/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450E5805-DA81-4F69-83E1-7FB53FB22274}"/>
              </a:ext>
            </a:extLst>
          </p:cNvPr>
          <p:cNvSpPr/>
          <p:nvPr/>
        </p:nvSpPr>
        <p:spPr>
          <a:xfrm>
            <a:off x="1435608" y="2989520"/>
            <a:ext cx="73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43" name="Shape 41">
            <a:extLst>
              <a:ext uri="{FF2B5EF4-FFF2-40B4-BE49-F238E27FC236}">
                <a16:creationId xmlns:a16="http://schemas.microsoft.com/office/drawing/2014/main" id="{00186025-AD73-4DB2-B633-FF47B5E360DB}"/>
              </a:ext>
            </a:extLst>
          </p:cNvPr>
          <p:cNvSpPr/>
          <p:nvPr/>
        </p:nvSpPr>
        <p:spPr>
          <a:xfrm>
            <a:off x="1508760" y="2989520"/>
            <a:ext cx="1024128" cy="402336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9525">
            <a:solidFill>
              <a:srgbClr val="0B3D62"/>
            </a:solidFill>
            <a:prstDash val="solid"/>
          </a:ln>
        </p:spPr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7DC8C1B7-640B-4906-BE33-23FC37C97D3D}"/>
              </a:ext>
            </a:extLst>
          </p:cNvPr>
          <p:cNvSpPr/>
          <p:nvPr/>
        </p:nvSpPr>
        <p:spPr>
          <a:xfrm>
            <a:off x="1527048" y="2989520"/>
            <a:ext cx="9875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</a:t>
            </a:r>
            <a:endParaRPr lang="en-US" sz="1000" dirty="0"/>
          </a:p>
          <a:p>
            <a:pPr marL="0" indent="0" algn="ctr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en-US" sz="1000" dirty="0"/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4CE8AD3E-99BB-48DF-9C35-94856C32289F}"/>
              </a:ext>
            </a:extLst>
          </p:cNvPr>
          <p:cNvSpPr/>
          <p:nvPr/>
        </p:nvSpPr>
        <p:spPr>
          <a:xfrm>
            <a:off x="2532888" y="2989520"/>
            <a:ext cx="73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46" name="Shape 44">
            <a:extLst>
              <a:ext uri="{FF2B5EF4-FFF2-40B4-BE49-F238E27FC236}">
                <a16:creationId xmlns:a16="http://schemas.microsoft.com/office/drawing/2014/main" id="{621B54CB-94CD-480D-9ADB-2D301A34B319}"/>
              </a:ext>
            </a:extLst>
          </p:cNvPr>
          <p:cNvSpPr/>
          <p:nvPr/>
        </p:nvSpPr>
        <p:spPr>
          <a:xfrm>
            <a:off x="2606040" y="2989520"/>
            <a:ext cx="1024128" cy="402336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9525">
            <a:solidFill>
              <a:srgbClr val="0B3D62"/>
            </a:solidFill>
            <a:prstDash val="solid"/>
          </a:ln>
        </p:spPr>
      </p:sp>
      <p:sp>
        <p:nvSpPr>
          <p:cNvPr id="47" name="Text 45">
            <a:extLst>
              <a:ext uri="{FF2B5EF4-FFF2-40B4-BE49-F238E27FC236}">
                <a16:creationId xmlns:a16="http://schemas.microsoft.com/office/drawing/2014/main" id="{DAE694D6-C318-49BA-A38E-F9CA9E20CA57}"/>
              </a:ext>
            </a:extLst>
          </p:cNvPr>
          <p:cNvSpPr/>
          <p:nvPr/>
        </p:nvSpPr>
        <p:spPr>
          <a:xfrm>
            <a:off x="2624328" y="2989520"/>
            <a:ext cx="9875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000" dirty="0"/>
          </a:p>
        </p:txBody>
      </p:sp>
      <p:sp>
        <p:nvSpPr>
          <p:cNvPr id="48" name="Text 46">
            <a:extLst>
              <a:ext uri="{FF2B5EF4-FFF2-40B4-BE49-F238E27FC236}">
                <a16:creationId xmlns:a16="http://schemas.microsoft.com/office/drawing/2014/main" id="{67C42E92-B620-48FC-92C8-245891FE3182}"/>
              </a:ext>
            </a:extLst>
          </p:cNvPr>
          <p:cNvSpPr/>
          <p:nvPr/>
        </p:nvSpPr>
        <p:spPr>
          <a:xfrm>
            <a:off x="3630168" y="2989520"/>
            <a:ext cx="73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49" name="Shape 47">
            <a:extLst>
              <a:ext uri="{FF2B5EF4-FFF2-40B4-BE49-F238E27FC236}">
                <a16:creationId xmlns:a16="http://schemas.microsoft.com/office/drawing/2014/main" id="{FA653996-3B50-4FCE-B00C-C9079057C55D}"/>
              </a:ext>
            </a:extLst>
          </p:cNvPr>
          <p:cNvSpPr/>
          <p:nvPr/>
        </p:nvSpPr>
        <p:spPr>
          <a:xfrm>
            <a:off x="3703320" y="2989520"/>
            <a:ext cx="1024128" cy="402336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9525">
            <a:solidFill>
              <a:srgbClr val="0B3D62"/>
            </a:solidFill>
            <a:prstDash val="solid"/>
          </a:ln>
        </p:spPr>
      </p:sp>
      <p:sp>
        <p:nvSpPr>
          <p:cNvPr id="50" name="Text 48">
            <a:extLst>
              <a:ext uri="{FF2B5EF4-FFF2-40B4-BE49-F238E27FC236}">
                <a16:creationId xmlns:a16="http://schemas.microsoft.com/office/drawing/2014/main" id="{34E75B1B-5240-4623-8E47-D401B70827BC}"/>
              </a:ext>
            </a:extLst>
          </p:cNvPr>
          <p:cNvSpPr/>
          <p:nvPr/>
        </p:nvSpPr>
        <p:spPr>
          <a:xfrm>
            <a:off x="3721608" y="2989520"/>
            <a:ext cx="9875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Scheduling</a:t>
            </a:r>
            <a:endParaRPr lang="en-US" sz="1000" dirty="0"/>
          </a:p>
          <a:p>
            <a:pPr marL="0" indent="0" algn="ctr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Assignment</a:t>
            </a:r>
            <a:endParaRPr lang="en-US" sz="1000" dirty="0"/>
          </a:p>
        </p:txBody>
      </p:sp>
      <p:sp>
        <p:nvSpPr>
          <p:cNvPr id="51" name="Text 49">
            <a:extLst>
              <a:ext uri="{FF2B5EF4-FFF2-40B4-BE49-F238E27FC236}">
                <a16:creationId xmlns:a16="http://schemas.microsoft.com/office/drawing/2014/main" id="{9AAE2FEF-1E9D-41A3-B334-C16D19D8F66B}"/>
              </a:ext>
            </a:extLst>
          </p:cNvPr>
          <p:cNvSpPr/>
          <p:nvPr/>
        </p:nvSpPr>
        <p:spPr>
          <a:xfrm>
            <a:off x="4727448" y="2989520"/>
            <a:ext cx="73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52" name="Shape 50">
            <a:extLst>
              <a:ext uri="{FF2B5EF4-FFF2-40B4-BE49-F238E27FC236}">
                <a16:creationId xmlns:a16="http://schemas.microsoft.com/office/drawing/2014/main" id="{CB106990-42F2-426A-867A-5366759DB918}"/>
              </a:ext>
            </a:extLst>
          </p:cNvPr>
          <p:cNvSpPr/>
          <p:nvPr/>
        </p:nvSpPr>
        <p:spPr>
          <a:xfrm>
            <a:off x="4800600" y="2989520"/>
            <a:ext cx="1024128" cy="402336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9525">
            <a:solidFill>
              <a:srgbClr val="0B3D62"/>
            </a:solidFill>
            <a:prstDash val="solid"/>
          </a:ln>
        </p:spPr>
      </p:sp>
      <p:sp>
        <p:nvSpPr>
          <p:cNvPr id="53" name="Text 51">
            <a:extLst>
              <a:ext uri="{FF2B5EF4-FFF2-40B4-BE49-F238E27FC236}">
                <a16:creationId xmlns:a16="http://schemas.microsoft.com/office/drawing/2014/main" id="{0A6B355A-A5B1-4B13-9E7A-EBC6129265BA}"/>
              </a:ext>
            </a:extLst>
          </p:cNvPr>
          <p:cNvSpPr/>
          <p:nvPr/>
        </p:nvSpPr>
        <p:spPr>
          <a:xfrm>
            <a:off x="4818888" y="2989520"/>
            <a:ext cx="9875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LMO / GATC Field</a:t>
            </a:r>
            <a:endParaRPr lang="en-US" sz="1000" dirty="0"/>
          </a:p>
          <a:p>
            <a:pPr marL="0" indent="0" algn="ctr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</a:t>
            </a:r>
            <a:endParaRPr lang="en-US" sz="1000" dirty="0"/>
          </a:p>
        </p:txBody>
      </p:sp>
      <p:sp>
        <p:nvSpPr>
          <p:cNvPr id="54" name="Shape 52">
            <a:extLst>
              <a:ext uri="{FF2B5EF4-FFF2-40B4-BE49-F238E27FC236}">
                <a16:creationId xmlns:a16="http://schemas.microsoft.com/office/drawing/2014/main" id="{2CF9D692-1646-419F-B8B1-2AF40538B673}"/>
              </a:ext>
            </a:extLst>
          </p:cNvPr>
          <p:cNvSpPr/>
          <p:nvPr/>
        </p:nvSpPr>
        <p:spPr>
          <a:xfrm>
            <a:off x="5312664" y="3391856"/>
            <a:ext cx="0" cy="146304"/>
          </a:xfrm>
          <a:prstGeom prst="line">
            <a:avLst/>
          </a:prstGeom>
          <a:noFill/>
          <a:ln w="15875">
            <a:solidFill>
              <a:srgbClr val="0B3D62"/>
            </a:solidFill>
            <a:prstDash val="solid"/>
            <a:tailEnd type="triangle"/>
          </a:ln>
        </p:spPr>
      </p:sp>
      <p:sp>
        <p:nvSpPr>
          <p:cNvPr id="55" name="Shape 53">
            <a:extLst>
              <a:ext uri="{FF2B5EF4-FFF2-40B4-BE49-F238E27FC236}">
                <a16:creationId xmlns:a16="http://schemas.microsoft.com/office/drawing/2014/main" id="{2A89DB49-B59F-4730-9DE9-DD84A2B1A6D5}"/>
              </a:ext>
            </a:extLst>
          </p:cNvPr>
          <p:cNvSpPr/>
          <p:nvPr/>
        </p:nvSpPr>
        <p:spPr>
          <a:xfrm>
            <a:off x="4781740" y="3666749"/>
            <a:ext cx="1024128" cy="457200"/>
          </a:xfrm>
          <a:prstGeom prst="diamond">
            <a:avLst/>
          </a:prstGeom>
          <a:solidFill>
            <a:srgbClr val="FFFFFF"/>
          </a:solidFill>
          <a:ln w="11430">
            <a:solidFill>
              <a:srgbClr val="0B3D62"/>
            </a:solidFill>
            <a:prstDash val="solid"/>
          </a:ln>
        </p:spPr>
      </p:sp>
      <p:sp>
        <p:nvSpPr>
          <p:cNvPr id="56" name="Text 54">
            <a:extLst>
              <a:ext uri="{FF2B5EF4-FFF2-40B4-BE49-F238E27FC236}">
                <a16:creationId xmlns:a16="http://schemas.microsoft.com/office/drawing/2014/main" id="{568553EA-8614-4E04-BC9A-8C38A5E2B2ED}"/>
              </a:ext>
            </a:extLst>
          </p:cNvPr>
          <p:cNvSpPr/>
          <p:nvPr/>
        </p:nvSpPr>
        <p:spPr>
          <a:xfrm>
            <a:off x="4800600" y="3666749"/>
            <a:ext cx="1024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082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/</a:t>
            </a:r>
            <a:endParaRPr lang="en-US" sz="1000" dirty="0"/>
          </a:p>
          <a:p>
            <a:pPr marL="0" indent="0" algn="ctr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082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</a:t>
            </a:r>
            <a:endParaRPr lang="en-US" sz="1000" dirty="0"/>
          </a:p>
        </p:txBody>
      </p:sp>
      <p:sp>
        <p:nvSpPr>
          <p:cNvPr id="57" name="Shape 55">
            <a:extLst>
              <a:ext uri="{FF2B5EF4-FFF2-40B4-BE49-F238E27FC236}">
                <a16:creationId xmlns:a16="http://schemas.microsoft.com/office/drawing/2014/main" id="{266351EF-EEC2-4D17-BAB7-BEE0C503D2F9}"/>
              </a:ext>
            </a:extLst>
          </p:cNvPr>
          <p:cNvSpPr/>
          <p:nvPr/>
        </p:nvSpPr>
        <p:spPr>
          <a:xfrm>
            <a:off x="3703320" y="3703325"/>
            <a:ext cx="1024128" cy="38404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0B3D62"/>
            </a:solidFill>
            <a:prstDash val="solid"/>
          </a:ln>
        </p:spPr>
      </p:sp>
      <p:sp>
        <p:nvSpPr>
          <p:cNvPr id="58" name="Text 56">
            <a:extLst>
              <a:ext uri="{FF2B5EF4-FFF2-40B4-BE49-F238E27FC236}">
                <a16:creationId xmlns:a16="http://schemas.microsoft.com/office/drawing/2014/main" id="{40DCC97B-9AB2-4E68-B51D-821DB17006E4}"/>
              </a:ext>
            </a:extLst>
          </p:cNvPr>
          <p:cNvSpPr/>
          <p:nvPr/>
        </p:nvSpPr>
        <p:spPr>
          <a:xfrm>
            <a:off x="3721608" y="3703325"/>
            <a:ext cx="987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Certificate</a:t>
            </a:r>
            <a:endParaRPr lang="en-US" sz="1000" dirty="0"/>
          </a:p>
          <a:p>
            <a:pPr marL="0" indent="0" algn="ctr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</a:t>
            </a:r>
            <a:endParaRPr lang="en-US" sz="1000" dirty="0"/>
          </a:p>
        </p:txBody>
      </p:sp>
      <p:sp>
        <p:nvSpPr>
          <p:cNvPr id="59" name="Shape 57">
            <a:extLst>
              <a:ext uri="{FF2B5EF4-FFF2-40B4-BE49-F238E27FC236}">
                <a16:creationId xmlns:a16="http://schemas.microsoft.com/office/drawing/2014/main" id="{7482C166-B407-418B-9BCA-8D19CF039DF7}"/>
              </a:ext>
            </a:extLst>
          </p:cNvPr>
          <p:cNvSpPr/>
          <p:nvPr/>
        </p:nvSpPr>
        <p:spPr>
          <a:xfrm>
            <a:off x="2606040" y="3703325"/>
            <a:ext cx="1024128" cy="38404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0B3D62"/>
            </a:solidFill>
            <a:prstDash val="solid"/>
          </a:ln>
        </p:spPr>
      </p:sp>
      <p:sp>
        <p:nvSpPr>
          <p:cNvPr id="60" name="Text 58">
            <a:extLst>
              <a:ext uri="{FF2B5EF4-FFF2-40B4-BE49-F238E27FC236}">
                <a16:creationId xmlns:a16="http://schemas.microsoft.com/office/drawing/2014/main" id="{3F327F72-1058-406A-B2FE-39DBDF2D0297}"/>
              </a:ext>
            </a:extLst>
          </p:cNvPr>
          <p:cNvSpPr/>
          <p:nvPr/>
        </p:nvSpPr>
        <p:spPr>
          <a:xfrm>
            <a:off x="2624328" y="3703325"/>
            <a:ext cx="987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Signature</a:t>
            </a:r>
            <a:endParaRPr lang="en-US" sz="1000" dirty="0"/>
          </a:p>
          <a:p>
            <a:pPr marL="0" indent="0" algn="ctr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QR Generation</a:t>
            </a:r>
            <a:endParaRPr lang="en-US" sz="1000" dirty="0"/>
          </a:p>
        </p:txBody>
      </p:sp>
      <p:sp>
        <p:nvSpPr>
          <p:cNvPr id="61" name="Shape 59">
            <a:extLst>
              <a:ext uri="{FF2B5EF4-FFF2-40B4-BE49-F238E27FC236}">
                <a16:creationId xmlns:a16="http://schemas.microsoft.com/office/drawing/2014/main" id="{15E181ED-5E84-46D5-9835-4C43C82C0420}"/>
              </a:ext>
            </a:extLst>
          </p:cNvPr>
          <p:cNvSpPr/>
          <p:nvPr/>
        </p:nvSpPr>
        <p:spPr>
          <a:xfrm>
            <a:off x="1508760" y="3703325"/>
            <a:ext cx="1024128" cy="38404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0B3D62"/>
            </a:solidFill>
            <a:prstDash val="solid"/>
          </a:ln>
        </p:spPr>
      </p:sp>
      <p:sp>
        <p:nvSpPr>
          <p:cNvPr id="62" name="Text 60">
            <a:extLst>
              <a:ext uri="{FF2B5EF4-FFF2-40B4-BE49-F238E27FC236}">
                <a16:creationId xmlns:a16="http://schemas.microsoft.com/office/drawing/2014/main" id="{D7DB706B-C0D4-4242-B4EC-C8C03D72F8F9}"/>
              </a:ext>
            </a:extLst>
          </p:cNvPr>
          <p:cNvSpPr/>
          <p:nvPr/>
        </p:nvSpPr>
        <p:spPr>
          <a:xfrm>
            <a:off x="1527048" y="3703325"/>
            <a:ext cx="987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QR</a:t>
            </a:r>
            <a:endParaRPr lang="en-US" sz="1000" dirty="0"/>
          </a:p>
          <a:p>
            <a:pPr marL="0" indent="0" algn="ctr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</a:t>
            </a:r>
            <a:endParaRPr lang="en-US" sz="1000" dirty="0"/>
          </a:p>
        </p:txBody>
      </p:sp>
      <p:sp>
        <p:nvSpPr>
          <p:cNvPr id="63" name="Shape 61">
            <a:extLst>
              <a:ext uri="{FF2B5EF4-FFF2-40B4-BE49-F238E27FC236}">
                <a16:creationId xmlns:a16="http://schemas.microsoft.com/office/drawing/2014/main" id="{1C9D71E1-192A-4C84-B634-1A5E8747BF50}"/>
              </a:ext>
            </a:extLst>
          </p:cNvPr>
          <p:cNvSpPr/>
          <p:nvPr/>
        </p:nvSpPr>
        <p:spPr>
          <a:xfrm>
            <a:off x="374336" y="3687826"/>
            <a:ext cx="1024128" cy="38404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0B3D62"/>
            </a:solidFill>
            <a:prstDash val="solid"/>
          </a:ln>
        </p:spPr>
      </p:sp>
      <p:sp>
        <p:nvSpPr>
          <p:cNvPr id="64" name="Text 62">
            <a:extLst>
              <a:ext uri="{FF2B5EF4-FFF2-40B4-BE49-F238E27FC236}">
                <a16:creationId xmlns:a16="http://schemas.microsoft.com/office/drawing/2014/main" id="{255BE0A0-C856-4DF7-8C78-078A86A9D715}"/>
              </a:ext>
            </a:extLst>
          </p:cNvPr>
          <p:cNvSpPr/>
          <p:nvPr/>
        </p:nvSpPr>
        <p:spPr>
          <a:xfrm>
            <a:off x="429768" y="3703325"/>
            <a:ext cx="987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Validity Monitoring</a:t>
            </a:r>
            <a:endParaRPr lang="en-US" sz="1000" dirty="0"/>
          </a:p>
        </p:txBody>
      </p:sp>
      <p:sp>
        <p:nvSpPr>
          <p:cNvPr id="65" name="Text 63">
            <a:extLst>
              <a:ext uri="{FF2B5EF4-FFF2-40B4-BE49-F238E27FC236}">
                <a16:creationId xmlns:a16="http://schemas.microsoft.com/office/drawing/2014/main" id="{AD1EDD97-B019-4762-AC4D-8F56E3F69842}"/>
              </a:ext>
            </a:extLst>
          </p:cNvPr>
          <p:cNvSpPr/>
          <p:nvPr/>
        </p:nvSpPr>
        <p:spPr>
          <a:xfrm>
            <a:off x="1435608" y="3703325"/>
            <a:ext cx="73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‹</a:t>
            </a:r>
            <a:endParaRPr lang="en-US" sz="1000" dirty="0"/>
          </a:p>
        </p:txBody>
      </p:sp>
      <p:sp>
        <p:nvSpPr>
          <p:cNvPr id="66" name="Text 64">
            <a:extLst>
              <a:ext uri="{FF2B5EF4-FFF2-40B4-BE49-F238E27FC236}">
                <a16:creationId xmlns:a16="http://schemas.microsoft.com/office/drawing/2014/main" id="{314708A4-FA71-436A-996B-B043A7CD6E2E}"/>
              </a:ext>
            </a:extLst>
          </p:cNvPr>
          <p:cNvSpPr/>
          <p:nvPr/>
        </p:nvSpPr>
        <p:spPr>
          <a:xfrm>
            <a:off x="2532888" y="3703325"/>
            <a:ext cx="73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‹</a:t>
            </a:r>
            <a:endParaRPr lang="en-US" sz="1000" dirty="0"/>
          </a:p>
        </p:txBody>
      </p:sp>
      <p:sp>
        <p:nvSpPr>
          <p:cNvPr id="67" name="Text 65">
            <a:extLst>
              <a:ext uri="{FF2B5EF4-FFF2-40B4-BE49-F238E27FC236}">
                <a16:creationId xmlns:a16="http://schemas.microsoft.com/office/drawing/2014/main" id="{CBCD299D-591F-459C-9CEE-DB0C1A143296}"/>
              </a:ext>
            </a:extLst>
          </p:cNvPr>
          <p:cNvSpPr/>
          <p:nvPr/>
        </p:nvSpPr>
        <p:spPr>
          <a:xfrm>
            <a:off x="3630168" y="3703325"/>
            <a:ext cx="73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‹</a:t>
            </a:r>
            <a:endParaRPr lang="en-US" sz="1000" dirty="0"/>
          </a:p>
        </p:txBody>
      </p:sp>
      <p:sp>
        <p:nvSpPr>
          <p:cNvPr id="68" name="Text 66">
            <a:extLst>
              <a:ext uri="{FF2B5EF4-FFF2-40B4-BE49-F238E27FC236}">
                <a16:creationId xmlns:a16="http://schemas.microsoft.com/office/drawing/2014/main" id="{39495860-B96D-49C9-83E9-4206261CD94C}"/>
              </a:ext>
            </a:extLst>
          </p:cNvPr>
          <p:cNvSpPr/>
          <p:nvPr/>
        </p:nvSpPr>
        <p:spPr>
          <a:xfrm>
            <a:off x="4727448" y="3703325"/>
            <a:ext cx="73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7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‹</a:t>
            </a:r>
            <a:endParaRPr lang="en-US" sz="1000" dirty="0"/>
          </a:p>
        </p:txBody>
      </p:sp>
      <p:sp>
        <p:nvSpPr>
          <p:cNvPr id="69" name="Text 67">
            <a:extLst>
              <a:ext uri="{FF2B5EF4-FFF2-40B4-BE49-F238E27FC236}">
                <a16:creationId xmlns:a16="http://schemas.microsoft.com/office/drawing/2014/main" id="{DF331E62-4127-4A66-A870-3B3182A4FED3}"/>
              </a:ext>
            </a:extLst>
          </p:cNvPr>
          <p:cNvSpPr/>
          <p:nvPr/>
        </p:nvSpPr>
        <p:spPr>
          <a:xfrm>
            <a:off x="4727448" y="3455864"/>
            <a:ext cx="3474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7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000" dirty="0"/>
          </a:p>
        </p:txBody>
      </p:sp>
      <p:sp>
        <p:nvSpPr>
          <p:cNvPr id="70" name="Shape 68">
            <a:extLst>
              <a:ext uri="{FF2B5EF4-FFF2-40B4-BE49-F238E27FC236}">
                <a16:creationId xmlns:a16="http://schemas.microsoft.com/office/drawing/2014/main" id="{EC05EC26-DA68-4683-9A3E-CEAEBB61681B}"/>
              </a:ext>
            </a:extLst>
          </p:cNvPr>
          <p:cNvSpPr/>
          <p:nvPr/>
        </p:nvSpPr>
        <p:spPr>
          <a:xfrm>
            <a:off x="4549139" y="4178813"/>
            <a:ext cx="1344168" cy="237744"/>
          </a:xfrm>
          <a:prstGeom prst="roundRect">
            <a:avLst>
              <a:gd name="adj" fmla="val 13462"/>
            </a:avLst>
          </a:prstGeom>
          <a:solidFill>
            <a:srgbClr val="FBE9E7"/>
          </a:solidFill>
          <a:ln w="9525">
            <a:solidFill>
              <a:srgbClr val="B3261E"/>
            </a:solidFill>
            <a:prstDash val="solid"/>
          </a:ln>
        </p:spPr>
      </p:sp>
      <p:sp>
        <p:nvSpPr>
          <p:cNvPr id="71" name="Text 69">
            <a:extLst>
              <a:ext uri="{FF2B5EF4-FFF2-40B4-BE49-F238E27FC236}">
                <a16:creationId xmlns:a16="http://schemas.microsoft.com/office/drawing/2014/main" id="{D02B7974-3FE4-4DCA-81A3-AD8180683225}"/>
              </a:ext>
            </a:extLst>
          </p:cNvPr>
          <p:cNvSpPr/>
          <p:nvPr/>
        </p:nvSpPr>
        <p:spPr>
          <a:xfrm>
            <a:off x="4498848" y="4178813"/>
            <a:ext cx="1307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→ Re-inspection ↺</a:t>
            </a:r>
            <a:endParaRPr lang="en-US" sz="800" dirty="0"/>
          </a:p>
        </p:txBody>
      </p:sp>
      <p:sp>
        <p:nvSpPr>
          <p:cNvPr id="72" name="Shape 70">
            <a:extLst>
              <a:ext uri="{FF2B5EF4-FFF2-40B4-BE49-F238E27FC236}">
                <a16:creationId xmlns:a16="http://schemas.microsoft.com/office/drawing/2014/main" id="{58D735FD-EC4F-45AC-9D8C-CA375AE6DE51}"/>
              </a:ext>
            </a:extLst>
          </p:cNvPr>
          <p:cNvSpPr/>
          <p:nvPr/>
        </p:nvSpPr>
        <p:spPr>
          <a:xfrm>
            <a:off x="5312664" y="4123949"/>
            <a:ext cx="0" cy="54864"/>
          </a:xfrm>
          <a:prstGeom prst="line">
            <a:avLst/>
          </a:prstGeom>
          <a:noFill/>
          <a:ln w="13970">
            <a:solidFill>
              <a:srgbClr val="B3261E"/>
            </a:solidFill>
            <a:prstDash val="solid"/>
            <a:tailEnd type="triangle"/>
          </a:ln>
        </p:spPr>
      </p:sp>
      <p:sp>
        <p:nvSpPr>
          <p:cNvPr id="232" name="Shape 71">
            <a:extLst>
              <a:ext uri="{FF2B5EF4-FFF2-40B4-BE49-F238E27FC236}">
                <a16:creationId xmlns:a16="http://schemas.microsoft.com/office/drawing/2014/main" id="{983AFC31-F6D5-43FD-A6E9-D6DB78FE5DED}"/>
              </a:ext>
            </a:extLst>
          </p:cNvPr>
          <p:cNvSpPr/>
          <p:nvPr/>
        </p:nvSpPr>
        <p:spPr>
          <a:xfrm>
            <a:off x="6144768" y="2662995"/>
            <a:ext cx="3063240" cy="198507"/>
          </a:xfrm>
          <a:prstGeom prst="roundRect">
            <a:avLst>
              <a:gd name="adj" fmla="val 22727"/>
            </a:avLst>
          </a:prstGeom>
          <a:solidFill>
            <a:srgbClr val="0B3D62"/>
          </a:solidFill>
          <a:ln/>
        </p:spPr>
      </p:sp>
      <p:sp>
        <p:nvSpPr>
          <p:cNvPr id="233" name="Text 72">
            <a:extLst>
              <a:ext uri="{FF2B5EF4-FFF2-40B4-BE49-F238E27FC236}">
                <a16:creationId xmlns:a16="http://schemas.microsoft.com/office/drawing/2014/main" id="{120CEEC7-AE53-4912-B351-60035A72B781}"/>
              </a:ext>
            </a:extLst>
          </p:cNvPr>
          <p:cNvSpPr/>
          <p:nvPr/>
        </p:nvSpPr>
        <p:spPr>
          <a:xfrm>
            <a:off x="6144768" y="2618123"/>
            <a:ext cx="3063240" cy="261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 TRUST &amp; SECURITY FLOW</a:t>
            </a:r>
            <a:endParaRPr lang="en-US" sz="1400" dirty="0"/>
          </a:p>
        </p:txBody>
      </p:sp>
      <p:sp>
        <p:nvSpPr>
          <p:cNvPr id="234" name="Shape 74">
            <a:extLst>
              <a:ext uri="{FF2B5EF4-FFF2-40B4-BE49-F238E27FC236}">
                <a16:creationId xmlns:a16="http://schemas.microsoft.com/office/drawing/2014/main" id="{98AD97E3-2D99-416A-A759-68AC80461839}"/>
              </a:ext>
            </a:extLst>
          </p:cNvPr>
          <p:cNvSpPr/>
          <p:nvPr/>
        </p:nvSpPr>
        <p:spPr>
          <a:xfrm>
            <a:off x="6281928" y="2994841"/>
            <a:ext cx="1024128" cy="397014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9525">
            <a:solidFill>
              <a:srgbClr val="0B3D62"/>
            </a:solidFill>
            <a:prstDash val="solid"/>
          </a:ln>
        </p:spPr>
      </p:sp>
      <p:sp>
        <p:nvSpPr>
          <p:cNvPr id="235" name="Text 75">
            <a:extLst>
              <a:ext uri="{FF2B5EF4-FFF2-40B4-BE49-F238E27FC236}">
                <a16:creationId xmlns:a16="http://schemas.microsoft.com/office/drawing/2014/main" id="{A081CF49-C0AF-43AA-99E1-2608293AD512}"/>
              </a:ext>
            </a:extLst>
          </p:cNvPr>
          <p:cNvSpPr/>
          <p:nvPr/>
        </p:nvSpPr>
        <p:spPr>
          <a:xfrm>
            <a:off x="6300216" y="2994841"/>
            <a:ext cx="987552" cy="3970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</a:t>
            </a:r>
            <a:endParaRPr lang="en-US" sz="900" dirty="0"/>
          </a:p>
          <a:p>
            <a:pPr marL="0" indent="0" algn="ctr">
              <a:lnSpc>
                <a:spcPct val="92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</a:t>
            </a:r>
            <a:endParaRPr lang="en-US" sz="900" dirty="0"/>
          </a:p>
        </p:txBody>
      </p:sp>
      <p:sp>
        <p:nvSpPr>
          <p:cNvPr id="236" name="Text 76">
            <a:extLst>
              <a:ext uri="{FF2B5EF4-FFF2-40B4-BE49-F238E27FC236}">
                <a16:creationId xmlns:a16="http://schemas.microsoft.com/office/drawing/2014/main" id="{2F53DBF1-13AA-4A80-BC43-462CC8F0E3D9}"/>
              </a:ext>
            </a:extLst>
          </p:cNvPr>
          <p:cNvSpPr/>
          <p:nvPr/>
        </p:nvSpPr>
        <p:spPr>
          <a:xfrm>
            <a:off x="7306056" y="2994841"/>
            <a:ext cx="73152" cy="3970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237" name="Shape 77">
            <a:extLst>
              <a:ext uri="{FF2B5EF4-FFF2-40B4-BE49-F238E27FC236}">
                <a16:creationId xmlns:a16="http://schemas.microsoft.com/office/drawing/2014/main" id="{B340EA58-25B3-4810-9894-2FE2A72347F9}"/>
              </a:ext>
            </a:extLst>
          </p:cNvPr>
          <p:cNvSpPr/>
          <p:nvPr/>
        </p:nvSpPr>
        <p:spPr>
          <a:xfrm>
            <a:off x="7379208" y="2994841"/>
            <a:ext cx="1024128" cy="397014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9525">
            <a:solidFill>
              <a:srgbClr val="0B3D62"/>
            </a:solidFill>
            <a:prstDash val="solid"/>
          </a:ln>
        </p:spPr>
      </p:sp>
      <p:sp>
        <p:nvSpPr>
          <p:cNvPr id="238" name="Text 78">
            <a:extLst>
              <a:ext uri="{FF2B5EF4-FFF2-40B4-BE49-F238E27FC236}">
                <a16:creationId xmlns:a16="http://schemas.microsoft.com/office/drawing/2014/main" id="{AC580CE5-E3C9-4E37-A2FD-CA881FA0E10F}"/>
              </a:ext>
            </a:extLst>
          </p:cNvPr>
          <p:cNvSpPr/>
          <p:nvPr/>
        </p:nvSpPr>
        <p:spPr>
          <a:xfrm>
            <a:off x="7397496" y="2994841"/>
            <a:ext cx="987552" cy="3970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</a:t>
            </a:r>
            <a:endParaRPr lang="en-US" sz="900" dirty="0"/>
          </a:p>
          <a:p>
            <a:pPr marL="0" indent="0" algn="ctr">
              <a:lnSpc>
                <a:spcPct val="92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900" dirty="0"/>
          </a:p>
        </p:txBody>
      </p:sp>
      <p:sp>
        <p:nvSpPr>
          <p:cNvPr id="239" name="Text 79">
            <a:extLst>
              <a:ext uri="{FF2B5EF4-FFF2-40B4-BE49-F238E27FC236}">
                <a16:creationId xmlns:a16="http://schemas.microsoft.com/office/drawing/2014/main" id="{8AE536FF-5625-4FEC-93D6-CC8BE583BDD9}"/>
              </a:ext>
            </a:extLst>
          </p:cNvPr>
          <p:cNvSpPr/>
          <p:nvPr/>
        </p:nvSpPr>
        <p:spPr>
          <a:xfrm>
            <a:off x="8403336" y="2994841"/>
            <a:ext cx="73152" cy="3970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240" name="Shape 80">
            <a:extLst>
              <a:ext uri="{FF2B5EF4-FFF2-40B4-BE49-F238E27FC236}">
                <a16:creationId xmlns:a16="http://schemas.microsoft.com/office/drawing/2014/main" id="{A85F42EC-2A4D-42BC-A5D8-8B2C5E3B895B}"/>
              </a:ext>
            </a:extLst>
          </p:cNvPr>
          <p:cNvSpPr/>
          <p:nvPr/>
        </p:nvSpPr>
        <p:spPr>
          <a:xfrm>
            <a:off x="8476488" y="2994841"/>
            <a:ext cx="1024128" cy="397014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9525">
            <a:solidFill>
              <a:srgbClr val="0B3D62"/>
            </a:solidFill>
            <a:prstDash val="solid"/>
          </a:ln>
        </p:spPr>
      </p:sp>
      <p:sp>
        <p:nvSpPr>
          <p:cNvPr id="241" name="Text 81">
            <a:extLst>
              <a:ext uri="{FF2B5EF4-FFF2-40B4-BE49-F238E27FC236}">
                <a16:creationId xmlns:a16="http://schemas.microsoft.com/office/drawing/2014/main" id="{5AAB0EA4-1D87-4470-A625-CB57FB0CE033}"/>
              </a:ext>
            </a:extLst>
          </p:cNvPr>
          <p:cNvSpPr/>
          <p:nvPr/>
        </p:nvSpPr>
        <p:spPr>
          <a:xfrm>
            <a:off x="8494776" y="2994841"/>
            <a:ext cx="987552" cy="3970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</a:t>
            </a:r>
            <a:endParaRPr lang="en-US" sz="900" dirty="0"/>
          </a:p>
          <a:p>
            <a:pPr marL="0" indent="0" algn="ctr">
              <a:lnSpc>
                <a:spcPct val="92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</a:t>
            </a:r>
            <a:endParaRPr lang="en-US" sz="900" dirty="0"/>
          </a:p>
        </p:txBody>
      </p:sp>
      <p:sp>
        <p:nvSpPr>
          <p:cNvPr id="242" name="Text 82">
            <a:extLst>
              <a:ext uri="{FF2B5EF4-FFF2-40B4-BE49-F238E27FC236}">
                <a16:creationId xmlns:a16="http://schemas.microsoft.com/office/drawing/2014/main" id="{95760104-771A-4770-8B13-D82E8E4610B7}"/>
              </a:ext>
            </a:extLst>
          </p:cNvPr>
          <p:cNvSpPr/>
          <p:nvPr/>
        </p:nvSpPr>
        <p:spPr>
          <a:xfrm>
            <a:off x="9500616" y="2994841"/>
            <a:ext cx="73152" cy="3970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243" name="Shape 83">
            <a:extLst>
              <a:ext uri="{FF2B5EF4-FFF2-40B4-BE49-F238E27FC236}">
                <a16:creationId xmlns:a16="http://schemas.microsoft.com/office/drawing/2014/main" id="{0A64C1BD-E846-47F7-9D05-07AAB73E552E}"/>
              </a:ext>
            </a:extLst>
          </p:cNvPr>
          <p:cNvSpPr/>
          <p:nvPr/>
        </p:nvSpPr>
        <p:spPr>
          <a:xfrm>
            <a:off x="9573768" y="2994841"/>
            <a:ext cx="1024128" cy="397014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9525">
            <a:solidFill>
              <a:srgbClr val="0B3D62"/>
            </a:solidFill>
            <a:prstDash val="solid"/>
          </a:ln>
        </p:spPr>
      </p:sp>
      <p:sp>
        <p:nvSpPr>
          <p:cNvPr id="244" name="Text 84">
            <a:extLst>
              <a:ext uri="{FF2B5EF4-FFF2-40B4-BE49-F238E27FC236}">
                <a16:creationId xmlns:a16="http://schemas.microsoft.com/office/drawing/2014/main" id="{4754726B-A0C8-4325-B68A-BD36BC5429B2}"/>
              </a:ext>
            </a:extLst>
          </p:cNvPr>
          <p:cNvSpPr/>
          <p:nvPr/>
        </p:nvSpPr>
        <p:spPr>
          <a:xfrm>
            <a:off x="9592056" y="2994841"/>
            <a:ext cx="987552" cy="3970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</a:t>
            </a:r>
            <a:endParaRPr lang="en-US" sz="900" dirty="0"/>
          </a:p>
          <a:p>
            <a:pPr marL="0" indent="0" algn="ctr">
              <a:lnSpc>
                <a:spcPct val="92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</a:t>
            </a:r>
            <a:endParaRPr lang="en-US" sz="900" dirty="0"/>
          </a:p>
        </p:txBody>
      </p:sp>
      <p:sp>
        <p:nvSpPr>
          <p:cNvPr id="245" name="Text 85">
            <a:extLst>
              <a:ext uri="{FF2B5EF4-FFF2-40B4-BE49-F238E27FC236}">
                <a16:creationId xmlns:a16="http://schemas.microsoft.com/office/drawing/2014/main" id="{2DD1BE10-5C77-4332-8895-499DE15D7828}"/>
              </a:ext>
            </a:extLst>
          </p:cNvPr>
          <p:cNvSpPr/>
          <p:nvPr/>
        </p:nvSpPr>
        <p:spPr>
          <a:xfrm>
            <a:off x="10597896" y="2994841"/>
            <a:ext cx="73152" cy="3970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246" name="Shape 86">
            <a:extLst>
              <a:ext uri="{FF2B5EF4-FFF2-40B4-BE49-F238E27FC236}">
                <a16:creationId xmlns:a16="http://schemas.microsoft.com/office/drawing/2014/main" id="{9B60B1A3-6E83-4720-A17C-B7000B8D1F7F}"/>
              </a:ext>
            </a:extLst>
          </p:cNvPr>
          <p:cNvSpPr/>
          <p:nvPr/>
        </p:nvSpPr>
        <p:spPr>
          <a:xfrm>
            <a:off x="10671048" y="2980554"/>
            <a:ext cx="1024128" cy="397014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9525">
            <a:solidFill>
              <a:srgbClr val="0B3D62"/>
            </a:solidFill>
            <a:prstDash val="solid"/>
          </a:ln>
        </p:spPr>
      </p:sp>
      <p:sp>
        <p:nvSpPr>
          <p:cNvPr id="247" name="Text 87">
            <a:extLst>
              <a:ext uri="{FF2B5EF4-FFF2-40B4-BE49-F238E27FC236}">
                <a16:creationId xmlns:a16="http://schemas.microsoft.com/office/drawing/2014/main" id="{467A8CA4-DAEB-4781-B0A8-22D1E452F757}"/>
              </a:ext>
            </a:extLst>
          </p:cNvPr>
          <p:cNvSpPr/>
          <p:nvPr/>
        </p:nvSpPr>
        <p:spPr>
          <a:xfrm>
            <a:off x="10706100" y="2994842"/>
            <a:ext cx="970788" cy="343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</a:t>
            </a:r>
            <a:endParaRPr lang="en-US" sz="900" dirty="0"/>
          </a:p>
          <a:p>
            <a:pPr marL="0" indent="0" algn="ctr">
              <a:lnSpc>
                <a:spcPct val="92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</a:t>
            </a:r>
            <a:endParaRPr lang="en-US" sz="900" dirty="0"/>
          </a:p>
        </p:txBody>
      </p:sp>
      <p:sp>
        <p:nvSpPr>
          <p:cNvPr id="248" name="Shape 88">
            <a:extLst>
              <a:ext uri="{FF2B5EF4-FFF2-40B4-BE49-F238E27FC236}">
                <a16:creationId xmlns:a16="http://schemas.microsoft.com/office/drawing/2014/main" id="{1F2CAD84-4590-4691-8FC6-CDF6F4D92BDC}"/>
              </a:ext>
            </a:extLst>
          </p:cNvPr>
          <p:cNvSpPr/>
          <p:nvPr/>
        </p:nvSpPr>
        <p:spPr>
          <a:xfrm>
            <a:off x="11183112" y="3394273"/>
            <a:ext cx="0" cy="180461"/>
          </a:xfrm>
          <a:prstGeom prst="line">
            <a:avLst/>
          </a:prstGeom>
          <a:noFill/>
          <a:ln w="15875">
            <a:solidFill>
              <a:srgbClr val="0B3D62"/>
            </a:solidFill>
            <a:prstDash val="solid"/>
            <a:tailEnd type="triangle"/>
          </a:ln>
        </p:spPr>
      </p:sp>
      <p:sp>
        <p:nvSpPr>
          <p:cNvPr id="249" name="Shape 89">
            <a:extLst>
              <a:ext uri="{FF2B5EF4-FFF2-40B4-BE49-F238E27FC236}">
                <a16:creationId xmlns:a16="http://schemas.microsoft.com/office/drawing/2014/main" id="{9ECA5423-197D-4E7F-90E4-20184FCDE0DB}"/>
              </a:ext>
            </a:extLst>
          </p:cNvPr>
          <p:cNvSpPr/>
          <p:nvPr/>
        </p:nvSpPr>
        <p:spPr>
          <a:xfrm>
            <a:off x="10671048" y="3594104"/>
            <a:ext cx="1024128" cy="3789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0B3D62"/>
            </a:solidFill>
            <a:prstDash val="solid"/>
          </a:ln>
        </p:spPr>
      </p:sp>
      <p:sp>
        <p:nvSpPr>
          <p:cNvPr id="250" name="Text 90">
            <a:extLst>
              <a:ext uri="{FF2B5EF4-FFF2-40B4-BE49-F238E27FC236}">
                <a16:creationId xmlns:a16="http://schemas.microsoft.com/office/drawing/2014/main" id="{97632B6B-C655-46DB-91BE-FBAD72B93B1D}"/>
              </a:ext>
            </a:extLst>
          </p:cNvPr>
          <p:cNvSpPr/>
          <p:nvPr/>
        </p:nvSpPr>
        <p:spPr>
          <a:xfrm>
            <a:off x="10689336" y="3594104"/>
            <a:ext cx="987552" cy="378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Code</a:t>
            </a:r>
            <a:endParaRPr lang="en-US" sz="900" dirty="0"/>
          </a:p>
        </p:txBody>
      </p:sp>
      <p:sp>
        <p:nvSpPr>
          <p:cNvPr id="251" name="Shape 91">
            <a:extLst>
              <a:ext uri="{FF2B5EF4-FFF2-40B4-BE49-F238E27FC236}">
                <a16:creationId xmlns:a16="http://schemas.microsoft.com/office/drawing/2014/main" id="{351533FF-AD69-47BB-B818-709B2C55E4E5}"/>
              </a:ext>
            </a:extLst>
          </p:cNvPr>
          <p:cNvSpPr/>
          <p:nvPr/>
        </p:nvSpPr>
        <p:spPr>
          <a:xfrm>
            <a:off x="9573768" y="3579815"/>
            <a:ext cx="1024128" cy="3789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0B3D62"/>
            </a:solidFill>
            <a:prstDash val="solid"/>
          </a:ln>
        </p:spPr>
      </p:sp>
      <p:sp>
        <p:nvSpPr>
          <p:cNvPr id="252" name="Text 92">
            <a:extLst>
              <a:ext uri="{FF2B5EF4-FFF2-40B4-BE49-F238E27FC236}">
                <a16:creationId xmlns:a16="http://schemas.microsoft.com/office/drawing/2014/main" id="{0DDA507D-F859-40F8-BFD2-4541A0B3FCEE}"/>
              </a:ext>
            </a:extLst>
          </p:cNvPr>
          <p:cNvSpPr/>
          <p:nvPr/>
        </p:nvSpPr>
        <p:spPr>
          <a:xfrm>
            <a:off x="9592056" y="3579815"/>
            <a:ext cx="987552" cy="378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</a:t>
            </a:r>
            <a:endParaRPr lang="en-US" sz="900" dirty="0"/>
          </a:p>
          <a:p>
            <a:pPr marL="0" indent="0" algn="ctr">
              <a:lnSpc>
                <a:spcPct val="92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</a:t>
            </a:r>
            <a:endParaRPr lang="en-US" sz="900" dirty="0"/>
          </a:p>
        </p:txBody>
      </p:sp>
      <p:sp>
        <p:nvSpPr>
          <p:cNvPr id="253" name="Shape 93">
            <a:extLst>
              <a:ext uri="{FF2B5EF4-FFF2-40B4-BE49-F238E27FC236}">
                <a16:creationId xmlns:a16="http://schemas.microsoft.com/office/drawing/2014/main" id="{D186A36F-20FC-4FB3-BAD5-94BED8EFDBF9}"/>
              </a:ext>
            </a:extLst>
          </p:cNvPr>
          <p:cNvSpPr/>
          <p:nvPr/>
        </p:nvSpPr>
        <p:spPr>
          <a:xfrm>
            <a:off x="8476488" y="3579815"/>
            <a:ext cx="1024128" cy="3789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0B3D62"/>
            </a:solidFill>
            <a:prstDash val="solid"/>
          </a:ln>
        </p:spPr>
      </p:sp>
      <p:sp>
        <p:nvSpPr>
          <p:cNvPr id="254" name="Text 94">
            <a:extLst>
              <a:ext uri="{FF2B5EF4-FFF2-40B4-BE49-F238E27FC236}">
                <a16:creationId xmlns:a16="http://schemas.microsoft.com/office/drawing/2014/main" id="{B8A4623D-7841-4BD7-BA40-EE5348E4F380}"/>
              </a:ext>
            </a:extLst>
          </p:cNvPr>
          <p:cNvSpPr/>
          <p:nvPr/>
        </p:nvSpPr>
        <p:spPr>
          <a:xfrm>
            <a:off x="8494776" y="3579815"/>
            <a:ext cx="987552" cy="378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900" dirty="0"/>
          </a:p>
          <a:p>
            <a:pPr marL="0" indent="0" algn="ctr">
              <a:lnSpc>
                <a:spcPct val="92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900" dirty="0"/>
          </a:p>
        </p:txBody>
      </p:sp>
      <p:sp>
        <p:nvSpPr>
          <p:cNvPr id="255" name="Shape 95">
            <a:extLst>
              <a:ext uri="{FF2B5EF4-FFF2-40B4-BE49-F238E27FC236}">
                <a16:creationId xmlns:a16="http://schemas.microsoft.com/office/drawing/2014/main" id="{009EC660-17B5-43CA-908B-DBC5CA414A30}"/>
              </a:ext>
            </a:extLst>
          </p:cNvPr>
          <p:cNvSpPr/>
          <p:nvPr/>
        </p:nvSpPr>
        <p:spPr>
          <a:xfrm>
            <a:off x="6281928" y="3579815"/>
            <a:ext cx="2121408" cy="3789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0B3D62"/>
            </a:solidFill>
            <a:prstDash val="solid"/>
          </a:ln>
        </p:spPr>
      </p:sp>
      <p:sp>
        <p:nvSpPr>
          <p:cNvPr id="256" name="Text 96">
            <a:extLst>
              <a:ext uri="{FF2B5EF4-FFF2-40B4-BE49-F238E27FC236}">
                <a16:creationId xmlns:a16="http://schemas.microsoft.com/office/drawing/2014/main" id="{49D3A929-04A4-40AB-8686-3339EEEB7A93}"/>
              </a:ext>
            </a:extLst>
          </p:cNvPr>
          <p:cNvSpPr/>
          <p:nvPr/>
        </p:nvSpPr>
        <p:spPr>
          <a:xfrm>
            <a:off x="6281928" y="3585329"/>
            <a:ext cx="2121408" cy="108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82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RESULT</a:t>
            </a:r>
            <a:endParaRPr lang="en-US" sz="800" dirty="0"/>
          </a:p>
        </p:txBody>
      </p:sp>
      <p:sp>
        <p:nvSpPr>
          <p:cNvPr id="257" name="Shape 97">
            <a:extLst>
              <a:ext uri="{FF2B5EF4-FFF2-40B4-BE49-F238E27FC236}">
                <a16:creationId xmlns:a16="http://schemas.microsoft.com/office/drawing/2014/main" id="{BC8D6F14-B280-47AA-96B8-6E719F6FD653}"/>
              </a:ext>
            </a:extLst>
          </p:cNvPr>
          <p:cNvSpPr/>
          <p:nvPr/>
        </p:nvSpPr>
        <p:spPr>
          <a:xfrm>
            <a:off x="6318504" y="3723457"/>
            <a:ext cx="658368" cy="180461"/>
          </a:xfrm>
          <a:prstGeom prst="roundRect">
            <a:avLst>
              <a:gd name="adj" fmla="val 30000"/>
            </a:avLst>
          </a:prstGeom>
          <a:solidFill>
            <a:srgbClr val="1E7B34"/>
          </a:solidFill>
          <a:ln/>
        </p:spPr>
      </p:sp>
      <p:sp>
        <p:nvSpPr>
          <p:cNvPr id="258" name="Text 98">
            <a:extLst>
              <a:ext uri="{FF2B5EF4-FFF2-40B4-BE49-F238E27FC236}">
                <a16:creationId xmlns:a16="http://schemas.microsoft.com/office/drawing/2014/main" id="{D5BDE3CF-B320-4BA4-9D0E-7AAC3C55ABE0}"/>
              </a:ext>
            </a:extLst>
          </p:cNvPr>
          <p:cNvSpPr/>
          <p:nvPr/>
        </p:nvSpPr>
        <p:spPr>
          <a:xfrm>
            <a:off x="6318504" y="3723457"/>
            <a:ext cx="658368" cy="180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</a:t>
            </a:r>
            <a:endParaRPr lang="en-US" sz="800" dirty="0"/>
          </a:p>
        </p:txBody>
      </p:sp>
      <p:sp>
        <p:nvSpPr>
          <p:cNvPr id="259" name="Shape 99">
            <a:extLst>
              <a:ext uri="{FF2B5EF4-FFF2-40B4-BE49-F238E27FC236}">
                <a16:creationId xmlns:a16="http://schemas.microsoft.com/office/drawing/2014/main" id="{E9F77FE9-F3F2-4897-8EE1-8F0F80719F13}"/>
              </a:ext>
            </a:extLst>
          </p:cNvPr>
          <p:cNvSpPr/>
          <p:nvPr/>
        </p:nvSpPr>
        <p:spPr>
          <a:xfrm>
            <a:off x="7013448" y="3744915"/>
            <a:ext cx="658368" cy="159003"/>
          </a:xfrm>
          <a:prstGeom prst="roundRect">
            <a:avLst>
              <a:gd name="adj" fmla="val 30000"/>
            </a:avLst>
          </a:prstGeom>
          <a:solidFill>
            <a:srgbClr val="B26A00"/>
          </a:solidFill>
          <a:ln/>
        </p:spPr>
      </p:sp>
      <p:sp>
        <p:nvSpPr>
          <p:cNvPr id="260" name="Text 100">
            <a:extLst>
              <a:ext uri="{FF2B5EF4-FFF2-40B4-BE49-F238E27FC236}">
                <a16:creationId xmlns:a16="http://schemas.microsoft.com/office/drawing/2014/main" id="{A59A59F3-80F5-4F9E-A7EE-DBCBD673FB05}"/>
              </a:ext>
            </a:extLst>
          </p:cNvPr>
          <p:cNvSpPr/>
          <p:nvPr/>
        </p:nvSpPr>
        <p:spPr>
          <a:xfrm>
            <a:off x="7013448" y="3723457"/>
            <a:ext cx="658368" cy="180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EXPIRED</a:t>
            </a:r>
            <a:endParaRPr lang="en-US" sz="800" dirty="0"/>
          </a:p>
        </p:txBody>
      </p:sp>
      <p:sp>
        <p:nvSpPr>
          <p:cNvPr id="261" name="Shape 101">
            <a:extLst>
              <a:ext uri="{FF2B5EF4-FFF2-40B4-BE49-F238E27FC236}">
                <a16:creationId xmlns:a16="http://schemas.microsoft.com/office/drawing/2014/main" id="{5BB6A9EE-D4CE-484C-84C4-E30F2E45A261}"/>
              </a:ext>
            </a:extLst>
          </p:cNvPr>
          <p:cNvSpPr/>
          <p:nvPr/>
        </p:nvSpPr>
        <p:spPr>
          <a:xfrm>
            <a:off x="7708392" y="3723457"/>
            <a:ext cx="658368" cy="180461"/>
          </a:xfrm>
          <a:prstGeom prst="roundRect">
            <a:avLst>
              <a:gd name="adj" fmla="val 30000"/>
            </a:avLst>
          </a:prstGeom>
          <a:solidFill>
            <a:srgbClr val="B3261E"/>
          </a:solidFill>
          <a:ln/>
        </p:spPr>
      </p:sp>
      <p:sp>
        <p:nvSpPr>
          <p:cNvPr id="262" name="Text 102">
            <a:extLst>
              <a:ext uri="{FF2B5EF4-FFF2-40B4-BE49-F238E27FC236}">
                <a16:creationId xmlns:a16="http://schemas.microsoft.com/office/drawing/2014/main" id="{FB920E56-2F8B-427D-A4D4-C9D936D0D9BC}"/>
              </a:ext>
            </a:extLst>
          </p:cNvPr>
          <p:cNvSpPr/>
          <p:nvPr/>
        </p:nvSpPr>
        <p:spPr>
          <a:xfrm>
            <a:off x="7708392" y="3723457"/>
            <a:ext cx="658368" cy="180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REVOKED</a:t>
            </a:r>
            <a:endParaRPr lang="en-US" sz="900" dirty="0"/>
          </a:p>
        </p:txBody>
      </p:sp>
      <p:sp>
        <p:nvSpPr>
          <p:cNvPr id="263" name="Text 103">
            <a:extLst>
              <a:ext uri="{FF2B5EF4-FFF2-40B4-BE49-F238E27FC236}">
                <a16:creationId xmlns:a16="http://schemas.microsoft.com/office/drawing/2014/main" id="{80D04479-6258-4431-ABEE-3D3F49CB9EC3}"/>
              </a:ext>
            </a:extLst>
          </p:cNvPr>
          <p:cNvSpPr/>
          <p:nvPr/>
        </p:nvSpPr>
        <p:spPr>
          <a:xfrm>
            <a:off x="9500616" y="3579815"/>
            <a:ext cx="73152" cy="378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‹</a:t>
            </a:r>
            <a:endParaRPr lang="en-US" sz="1100" dirty="0"/>
          </a:p>
        </p:txBody>
      </p:sp>
      <p:sp>
        <p:nvSpPr>
          <p:cNvPr id="264" name="Text 104">
            <a:extLst>
              <a:ext uri="{FF2B5EF4-FFF2-40B4-BE49-F238E27FC236}">
                <a16:creationId xmlns:a16="http://schemas.microsoft.com/office/drawing/2014/main" id="{084BE3A5-5D27-40E5-BBE9-170F1F259405}"/>
              </a:ext>
            </a:extLst>
          </p:cNvPr>
          <p:cNvSpPr/>
          <p:nvPr/>
        </p:nvSpPr>
        <p:spPr>
          <a:xfrm>
            <a:off x="10597896" y="3579815"/>
            <a:ext cx="73152" cy="378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‹</a:t>
            </a:r>
            <a:endParaRPr lang="en-US" sz="1100" dirty="0"/>
          </a:p>
        </p:txBody>
      </p:sp>
      <p:sp>
        <p:nvSpPr>
          <p:cNvPr id="265" name="Text 105">
            <a:extLst>
              <a:ext uri="{FF2B5EF4-FFF2-40B4-BE49-F238E27FC236}">
                <a16:creationId xmlns:a16="http://schemas.microsoft.com/office/drawing/2014/main" id="{AAC1F720-3405-4A0D-B48B-C3044566B364}"/>
              </a:ext>
            </a:extLst>
          </p:cNvPr>
          <p:cNvSpPr/>
          <p:nvPr/>
        </p:nvSpPr>
        <p:spPr>
          <a:xfrm>
            <a:off x="8403336" y="3579815"/>
            <a:ext cx="73152" cy="378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‹</a:t>
            </a:r>
            <a:endParaRPr lang="en-US" sz="1100" dirty="0"/>
          </a:p>
        </p:txBody>
      </p:sp>
      <p:sp>
        <p:nvSpPr>
          <p:cNvPr id="267" name="Text 107">
            <a:extLst>
              <a:ext uri="{FF2B5EF4-FFF2-40B4-BE49-F238E27FC236}">
                <a16:creationId xmlns:a16="http://schemas.microsoft.com/office/drawing/2014/main" id="{C2B6E0B3-8C2B-431B-9C5A-882003E8D740}"/>
              </a:ext>
            </a:extLst>
          </p:cNvPr>
          <p:cNvSpPr/>
          <p:nvPr/>
        </p:nvSpPr>
        <p:spPr>
          <a:xfrm>
            <a:off x="6281928" y="5737264"/>
            <a:ext cx="1828800" cy="1263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82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r>
              <a:rPr lang="en-US" sz="730" b="1" dirty="0">
                <a:solidFill>
                  <a:srgbClr val="082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b="1" dirty="0">
                <a:solidFill>
                  <a:srgbClr val="082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</a:t>
            </a:r>
            <a:endParaRPr lang="en-US" sz="900" dirty="0"/>
          </a:p>
        </p:txBody>
      </p:sp>
      <p:sp>
        <p:nvSpPr>
          <p:cNvPr id="268" name="Shape 108">
            <a:extLst>
              <a:ext uri="{FF2B5EF4-FFF2-40B4-BE49-F238E27FC236}">
                <a16:creationId xmlns:a16="http://schemas.microsoft.com/office/drawing/2014/main" id="{DC73E7F7-257B-422C-94BB-933A0404770D}"/>
              </a:ext>
            </a:extLst>
          </p:cNvPr>
          <p:cNvSpPr/>
          <p:nvPr/>
        </p:nvSpPr>
        <p:spPr>
          <a:xfrm>
            <a:off x="6281928" y="5894648"/>
            <a:ext cx="865632" cy="270691"/>
          </a:xfrm>
          <a:prstGeom prst="roundRect">
            <a:avLst>
              <a:gd name="adj" fmla="val 11667"/>
            </a:avLst>
          </a:prstGeom>
          <a:solidFill>
            <a:srgbClr val="EAF2F8"/>
          </a:solidFill>
          <a:ln w="7620">
            <a:solidFill>
              <a:srgbClr val="0E7C86"/>
            </a:solidFill>
            <a:prstDash val="solid"/>
          </a:ln>
        </p:spPr>
      </p:sp>
      <p:sp>
        <p:nvSpPr>
          <p:cNvPr id="269" name="Text 109">
            <a:extLst>
              <a:ext uri="{FF2B5EF4-FFF2-40B4-BE49-F238E27FC236}">
                <a16:creationId xmlns:a16="http://schemas.microsoft.com/office/drawing/2014/main" id="{13B3A0B4-D3F4-4BFA-9152-B0FD6601182E}"/>
              </a:ext>
            </a:extLst>
          </p:cNvPr>
          <p:cNvSpPr/>
          <p:nvPr/>
        </p:nvSpPr>
        <p:spPr>
          <a:xfrm>
            <a:off x="6300216" y="5894648"/>
            <a:ext cx="829056" cy="2706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</a:t>
            </a:r>
            <a:endParaRPr lang="en-US" sz="900" dirty="0"/>
          </a:p>
        </p:txBody>
      </p:sp>
      <p:sp>
        <p:nvSpPr>
          <p:cNvPr id="270" name="Text 110">
            <a:extLst>
              <a:ext uri="{FF2B5EF4-FFF2-40B4-BE49-F238E27FC236}">
                <a16:creationId xmlns:a16="http://schemas.microsoft.com/office/drawing/2014/main" id="{96101BE9-0305-40D3-BD80-A40F6441469A}"/>
              </a:ext>
            </a:extLst>
          </p:cNvPr>
          <p:cNvSpPr/>
          <p:nvPr/>
        </p:nvSpPr>
        <p:spPr>
          <a:xfrm>
            <a:off x="7147560" y="5894648"/>
            <a:ext cx="54864" cy="2706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800" dirty="0"/>
          </a:p>
        </p:txBody>
      </p:sp>
      <p:sp>
        <p:nvSpPr>
          <p:cNvPr id="271" name="Shape 111">
            <a:extLst>
              <a:ext uri="{FF2B5EF4-FFF2-40B4-BE49-F238E27FC236}">
                <a16:creationId xmlns:a16="http://schemas.microsoft.com/office/drawing/2014/main" id="{C6858B9B-F574-44B0-80E6-DDB66D9C3C4F}"/>
              </a:ext>
            </a:extLst>
          </p:cNvPr>
          <p:cNvSpPr/>
          <p:nvPr/>
        </p:nvSpPr>
        <p:spPr>
          <a:xfrm>
            <a:off x="7202424" y="5894648"/>
            <a:ext cx="865632" cy="270691"/>
          </a:xfrm>
          <a:prstGeom prst="roundRect">
            <a:avLst>
              <a:gd name="adj" fmla="val 11667"/>
            </a:avLst>
          </a:prstGeom>
          <a:solidFill>
            <a:srgbClr val="EAF2F8"/>
          </a:solidFill>
          <a:ln w="7620">
            <a:solidFill>
              <a:srgbClr val="0E7C86"/>
            </a:solidFill>
            <a:prstDash val="solid"/>
          </a:ln>
        </p:spPr>
      </p:sp>
      <p:sp>
        <p:nvSpPr>
          <p:cNvPr id="272" name="Text 112">
            <a:extLst>
              <a:ext uri="{FF2B5EF4-FFF2-40B4-BE49-F238E27FC236}">
                <a16:creationId xmlns:a16="http://schemas.microsoft.com/office/drawing/2014/main" id="{08690FF1-B928-4200-B72F-7713BF039ED7}"/>
              </a:ext>
            </a:extLst>
          </p:cNvPr>
          <p:cNvSpPr/>
          <p:nvPr/>
        </p:nvSpPr>
        <p:spPr>
          <a:xfrm>
            <a:off x="7220712" y="5894648"/>
            <a:ext cx="829056" cy="2706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</a:t>
            </a:r>
            <a:endParaRPr lang="en-US" sz="900" dirty="0"/>
          </a:p>
        </p:txBody>
      </p:sp>
      <p:sp>
        <p:nvSpPr>
          <p:cNvPr id="273" name="Text 113">
            <a:extLst>
              <a:ext uri="{FF2B5EF4-FFF2-40B4-BE49-F238E27FC236}">
                <a16:creationId xmlns:a16="http://schemas.microsoft.com/office/drawing/2014/main" id="{D120BF12-D3E6-490A-8293-DBF3028A6A3B}"/>
              </a:ext>
            </a:extLst>
          </p:cNvPr>
          <p:cNvSpPr/>
          <p:nvPr/>
        </p:nvSpPr>
        <p:spPr>
          <a:xfrm>
            <a:off x="8068056" y="5894648"/>
            <a:ext cx="54864" cy="2706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800" dirty="0"/>
          </a:p>
        </p:txBody>
      </p:sp>
      <p:sp>
        <p:nvSpPr>
          <p:cNvPr id="274" name="Shape 114">
            <a:extLst>
              <a:ext uri="{FF2B5EF4-FFF2-40B4-BE49-F238E27FC236}">
                <a16:creationId xmlns:a16="http://schemas.microsoft.com/office/drawing/2014/main" id="{22F47E84-11A2-4BCD-B5BA-3CD357498729}"/>
              </a:ext>
            </a:extLst>
          </p:cNvPr>
          <p:cNvSpPr/>
          <p:nvPr/>
        </p:nvSpPr>
        <p:spPr>
          <a:xfrm>
            <a:off x="8122920" y="5894648"/>
            <a:ext cx="865632" cy="270691"/>
          </a:xfrm>
          <a:prstGeom prst="roundRect">
            <a:avLst>
              <a:gd name="adj" fmla="val 11667"/>
            </a:avLst>
          </a:prstGeom>
          <a:solidFill>
            <a:srgbClr val="EAF2F8"/>
          </a:solidFill>
          <a:ln w="7620">
            <a:solidFill>
              <a:srgbClr val="0E7C86"/>
            </a:solidFill>
            <a:prstDash val="solid"/>
          </a:ln>
        </p:spPr>
      </p:sp>
      <p:sp>
        <p:nvSpPr>
          <p:cNvPr id="275" name="Text 115">
            <a:extLst>
              <a:ext uri="{FF2B5EF4-FFF2-40B4-BE49-F238E27FC236}">
                <a16:creationId xmlns:a16="http://schemas.microsoft.com/office/drawing/2014/main" id="{F54549A9-EAFB-4E08-80F9-AE79DD7D9814}"/>
              </a:ext>
            </a:extLst>
          </p:cNvPr>
          <p:cNvSpPr/>
          <p:nvPr/>
        </p:nvSpPr>
        <p:spPr>
          <a:xfrm>
            <a:off x="8141208" y="5894648"/>
            <a:ext cx="829056" cy="2706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</a:t>
            </a:r>
            <a:endParaRPr lang="en-US" sz="900" dirty="0"/>
          </a:p>
        </p:txBody>
      </p:sp>
      <p:sp>
        <p:nvSpPr>
          <p:cNvPr id="276" name="Text 116">
            <a:extLst>
              <a:ext uri="{FF2B5EF4-FFF2-40B4-BE49-F238E27FC236}">
                <a16:creationId xmlns:a16="http://schemas.microsoft.com/office/drawing/2014/main" id="{2ECFB589-EE39-48C5-AC6D-35226C7A4053}"/>
              </a:ext>
            </a:extLst>
          </p:cNvPr>
          <p:cNvSpPr/>
          <p:nvPr/>
        </p:nvSpPr>
        <p:spPr>
          <a:xfrm>
            <a:off x="8988552" y="5894648"/>
            <a:ext cx="54864" cy="2706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800" dirty="0"/>
          </a:p>
        </p:txBody>
      </p:sp>
      <p:sp>
        <p:nvSpPr>
          <p:cNvPr id="277" name="Shape 117">
            <a:extLst>
              <a:ext uri="{FF2B5EF4-FFF2-40B4-BE49-F238E27FC236}">
                <a16:creationId xmlns:a16="http://schemas.microsoft.com/office/drawing/2014/main" id="{1907A933-8AF7-4F0C-AAFB-C839665120C3}"/>
              </a:ext>
            </a:extLst>
          </p:cNvPr>
          <p:cNvSpPr/>
          <p:nvPr/>
        </p:nvSpPr>
        <p:spPr>
          <a:xfrm>
            <a:off x="9043416" y="5894648"/>
            <a:ext cx="865632" cy="270691"/>
          </a:xfrm>
          <a:prstGeom prst="roundRect">
            <a:avLst>
              <a:gd name="adj" fmla="val 11667"/>
            </a:avLst>
          </a:prstGeom>
          <a:solidFill>
            <a:srgbClr val="EAF2F8"/>
          </a:solidFill>
          <a:ln w="7620">
            <a:solidFill>
              <a:srgbClr val="0E7C86"/>
            </a:solidFill>
            <a:prstDash val="solid"/>
          </a:ln>
        </p:spPr>
      </p:sp>
      <p:sp>
        <p:nvSpPr>
          <p:cNvPr id="278" name="Text 118">
            <a:extLst>
              <a:ext uri="{FF2B5EF4-FFF2-40B4-BE49-F238E27FC236}">
                <a16:creationId xmlns:a16="http://schemas.microsoft.com/office/drawing/2014/main" id="{B6FF3079-7EB1-425D-8CC3-25579FDA4822}"/>
              </a:ext>
            </a:extLst>
          </p:cNvPr>
          <p:cNvSpPr/>
          <p:nvPr/>
        </p:nvSpPr>
        <p:spPr>
          <a:xfrm>
            <a:off x="9061704" y="5894648"/>
            <a:ext cx="829056" cy="2706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56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9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nput/File</a:t>
            </a:r>
            <a:endParaRPr lang="en-US" sz="900" dirty="0"/>
          </a:p>
          <a:p>
            <a:pPr marL="0" indent="0" algn="ctr">
              <a:lnSpc>
                <a:spcPct val="92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900" dirty="0"/>
          </a:p>
        </p:txBody>
      </p:sp>
      <p:sp>
        <p:nvSpPr>
          <p:cNvPr id="279" name="Text 119">
            <a:extLst>
              <a:ext uri="{FF2B5EF4-FFF2-40B4-BE49-F238E27FC236}">
                <a16:creationId xmlns:a16="http://schemas.microsoft.com/office/drawing/2014/main" id="{E77E6F50-E578-444B-9661-C7F187BA8B7F}"/>
              </a:ext>
            </a:extLst>
          </p:cNvPr>
          <p:cNvSpPr/>
          <p:nvPr/>
        </p:nvSpPr>
        <p:spPr>
          <a:xfrm>
            <a:off x="9909048" y="5894648"/>
            <a:ext cx="54864" cy="2706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800" dirty="0"/>
          </a:p>
        </p:txBody>
      </p:sp>
      <p:sp>
        <p:nvSpPr>
          <p:cNvPr id="280" name="Shape 120">
            <a:extLst>
              <a:ext uri="{FF2B5EF4-FFF2-40B4-BE49-F238E27FC236}">
                <a16:creationId xmlns:a16="http://schemas.microsoft.com/office/drawing/2014/main" id="{535C23DA-3E68-49C0-8C33-6445539F7A0C}"/>
              </a:ext>
            </a:extLst>
          </p:cNvPr>
          <p:cNvSpPr/>
          <p:nvPr/>
        </p:nvSpPr>
        <p:spPr>
          <a:xfrm>
            <a:off x="9963912" y="5894648"/>
            <a:ext cx="865632" cy="270691"/>
          </a:xfrm>
          <a:prstGeom prst="roundRect">
            <a:avLst>
              <a:gd name="adj" fmla="val 11667"/>
            </a:avLst>
          </a:prstGeom>
          <a:solidFill>
            <a:srgbClr val="EAF2F8"/>
          </a:solidFill>
          <a:ln w="7620">
            <a:solidFill>
              <a:srgbClr val="0E7C86"/>
            </a:solidFill>
            <a:prstDash val="solid"/>
          </a:ln>
        </p:spPr>
      </p:sp>
      <p:sp>
        <p:nvSpPr>
          <p:cNvPr id="281" name="Text 121">
            <a:extLst>
              <a:ext uri="{FF2B5EF4-FFF2-40B4-BE49-F238E27FC236}">
                <a16:creationId xmlns:a16="http://schemas.microsoft.com/office/drawing/2014/main" id="{B429B94E-4C23-43EB-82F8-DBFBD56FB1A9}"/>
              </a:ext>
            </a:extLst>
          </p:cNvPr>
          <p:cNvSpPr/>
          <p:nvPr/>
        </p:nvSpPr>
        <p:spPr>
          <a:xfrm>
            <a:off x="9982200" y="5894648"/>
            <a:ext cx="829056" cy="2706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Encrypted</a:t>
            </a:r>
            <a:endParaRPr lang="en-US" sz="900" dirty="0"/>
          </a:p>
          <a:p>
            <a:pPr marL="0" indent="0" algn="ctr">
              <a:lnSpc>
                <a:spcPct val="92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</a:t>
            </a:r>
            <a:endParaRPr lang="en-US" sz="900" dirty="0"/>
          </a:p>
        </p:txBody>
      </p:sp>
      <p:sp>
        <p:nvSpPr>
          <p:cNvPr id="282" name="Text 122">
            <a:extLst>
              <a:ext uri="{FF2B5EF4-FFF2-40B4-BE49-F238E27FC236}">
                <a16:creationId xmlns:a16="http://schemas.microsoft.com/office/drawing/2014/main" id="{CEDFD31A-58C2-473E-812D-6EB38AD48A35}"/>
              </a:ext>
            </a:extLst>
          </p:cNvPr>
          <p:cNvSpPr/>
          <p:nvPr/>
        </p:nvSpPr>
        <p:spPr>
          <a:xfrm>
            <a:off x="10829544" y="5894648"/>
            <a:ext cx="54864" cy="2706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800" dirty="0"/>
          </a:p>
        </p:txBody>
      </p:sp>
      <p:sp>
        <p:nvSpPr>
          <p:cNvPr id="283" name="Shape 123">
            <a:extLst>
              <a:ext uri="{FF2B5EF4-FFF2-40B4-BE49-F238E27FC236}">
                <a16:creationId xmlns:a16="http://schemas.microsoft.com/office/drawing/2014/main" id="{CD03ECA4-FF3B-41EE-B11A-728D2F83FE99}"/>
              </a:ext>
            </a:extLst>
          </p:cNvPr>
          <p:cNvSpPr/>
          <p:nvPr/>
        </p:nvSpPr>
        <p:spPr>
          <a:xfrm>
            <a:off x="10884408" y="5894648"/>
            <a:ext cx="865632" cy="270691"/>
          </a:xfrm>
          <a:prstGeom prst="roundRect">
            <a:avLst>
              <a:gd name="adj" fmla="val 11667"/>
            </a:avLst>
          </a:prstGeom>
          <a:solidFill>
            <a:srgbClr val="EAF2F8"/>
          </a:solidFill>
          <a:ln w="7620">
            <a:solidFill>
              <a:srgbClr val="0E7C86"/>
            </a:solidFill>
            <a:prstDash val="solid"/>
          </a:ln>
        </p:spPr>
      </p:sp>
      <p:sp>
        <p:nvSpPr>
          <p:cNvPr id="284" name="Text 124">
            <a:extLst>
              <a:ext uri="{FF2B5EF4-FFF2-40B4-BE49-F238E27FC236}">
                <a16:creationId xmlns:a16="http://schemas.microsoft.com/office/drawing/2014/main" id="{D36EBE69-A2A5-4E4E-89CE-022093276F9E}"/>
              </a:ext>
            </a:extLst>
          </p:cNvPr>
          <p:cNvSpPr/>
          <p:nvPr/>
        </p:nvSpPr>
        <p:spPr>
          <a:xfrm>
            <a:off x="10902696" y="5894648"/>
            <a:ext cx="829056" cy="2706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900" dirty="0"/>
          </a:p>
        </p:txBody>
      </p:sp>
      <p:sp>
        <p:nvSpPr>
          <p:cNvPr id="285" name="Oval 284" descr="Your startup LOGO">
            <a:extLst>
              <a:ext uri="{FF2B5EF4-FFF2-40B4-BE49-F238E27FC236}">
                <a16:creationId xmlns:a16="http://schemas.microsoft.com/office/drawing/2014/main" id="{F8F7F6FE-6687-4531-A162-8E57A927E0B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5287"/>
            <a:ext cx="1251857" cy="847892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i="1" dirty="0" err="1">
                <a:latin typeface="Arial Narrow" panose="020B0606020202030204" pitchFamily="34" charset="0"/>
              </a:rPr>
              <a:t>VisionX</a:t>
            </a:r>
            <a:endParaRPr lang="en-IN" b="1" i="1" dirty="0">
              <a:latin typeface="Arial Narrow" panose="020B060602020203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Analysis of the feasibility of the idea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Potential challenges and risks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Strategies</a:t>
            </a:r>
            <a:r>
              <a:rPr kumimoji="0" lang="en-US" sz="2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 for overcoming these challenges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Potential impact on the target audience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Benefits of the solution (social, economic, environmental, etc.)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795263"/>
            <a:ext cx="938530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noProof="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Details / Links of the reference and research work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7668</TotalTime>
  <Words>568</Words>
  <Application>Microsoft Office PowerPoint</Application>
  <PresentationFormat>Widescreen</PresentationFormat>
  <Paragraphs>140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7" baseType="lpstr">
      <vt:lpstr>ＭＳ Ｐゴシック</vt:lpstr>
      <vt:lpstr>Aptos</vt:lpstr>
      <vt:lpstr>Arial</vt:lpstr>
      <vt:lpstr>Arial Narrow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MeasureSure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Sriram Garaga</cp:lastModifiedBy>
  <cp:revision>165</cp:revision>
  <dcterms:created xsi:type="dcterms:W3CDTF">2013-12-12T18:46:50Z</dcterms:created>
  <dcterms:modified xsi:type="dcterms:W3CDTF">2026-08-31T10:19:09Z</dcterms:modified>
  <cp:category/>
</cp:coreProperties>
</file>